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3459" autoAdjust="0"/>
  </p:normalViewPr>
  <p:slideViewPr>
    <p:cSldViewPr>
      <p:cViewPr varScale="1">
        <p:scale>
          <a:sx n="36" d="100"/>
          <a:sy n="36" d="100"/>
        </p:scale>
        <p:origin x="52" y="6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盈慈 陳" userId="47c6c481c66a08f8" providerId="LiveId" clId="{C8E897B1-1C11-4474-A106-AD9E28844469}"/>
    <pc:docChg chg="modSld">
      <pc:chgData name="盈慈 陳" userId="47c6c481c66a08f8" providerId="LiveId" clId="{C8E897B1-1C11-4474-A106-AD9E28844469}" dt="2026-09-06T23:45:21.601" v="28" actId="14100"/>
      <pc:docMkLst>
        <pc:docMk/>
      </pc:docMkLst>
      <pc:sldChg chg="modSp mod">
        <pc:chgData name="盈慈 陳" userId="47c6c481c66a08f8" providerId="LiveId" clId="{C8E897B1-1C11-4474-A106-AD9E28844469}" dt="2026-09-06T23:43:36.569" v="0" actId="14100"/>
        <pc:sldMkLst>
          <pc:docMk/>
          <pc:sldMk cId="0" sldId="256"/>
        </pc:sldMkLst>
        <pc:spChg chg="mod">
          <ac:chgData name="盈慈 陳" userId="47c6c481c66a08f8" providerId="LiveId" clId="{C8E897B1-1C11-4474-A106-AD9E28844469}" dt="2026-09-06T23:43:36.569" v="0" actId="14100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6T23:44:18.555" v="6" actId="14100"/>
        <pc:sldMkLst>
          <pc:docMk/>
          <pc:sldMk cId="0" sldId="258"/>
        </pc:sldMkLst>
        <pc:spChg chg="mod">
          <ac:chgData name="盈慈 陳" userId="47c6c481c66a08f8" providerId="LiveId" clId="{C8E897B1-1C11-4474-A106-AD9E28844469}" dt="2026-09-06T23:44:18.555" v="6" actId="14100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6T23:44:24.710" v="10" actId="20577"/>
        <pc:sldMkLst>
          <pc:docMk/>
          <pc:sldMk cId="0" sldId="259"/>
        </pc:sldMkLst>
        <pc:spChg chg="mod">
          <ac:chgData name="盈慈 陳" userId="47c6c481c66a08f8" providerId="LiveId" clId="{C8E897B1-1C11-4474-A106-AD9E28844469}" dt="2026-09-06T23:44:24.710" v="10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6T23:44:42.660" v="16" actId="14100"/>
        <pc:sldMkLst>
          <pc:docMk/>
          <pc:sldMk cId="0" sldId="260"/>
        </pc:sldMkLst>
        <pc:spChg chg="mod">
          <ac:chgData name="盈慈 陳" userId="47c6c481c66a08f8" providerId="LiveId" clId="{C8E897B1-1C11-4474-A106-AD9E28844469}" dt="2026-09-06T23:44:39.154" v="15" actId="14100"/>
          <ac:spMkLst>
            <pc:docMk/>
            <pc:sldMk cId="0" sldId="260"/>
            <ac:spMk id="5" creationId="{00000000-0000-0000-0000-000000000000}"/>
          </ac:spMkLst>
        </pc:spChg>
        <pc:grpChg chg="mod">
          <ac:chgData name="盈慈 陳" userId="47c6c481c66a08f8" providerId="LiveId" clId="{C8E897B1-1C11-4474-A106-AD9E28844469}" dt="2026-09-06T23:44:42.660" v="16" actId="14100"/>
          <ac:grpSpMkLst>
            <pc:docMk/>
            <pc:sldMk cId="0" sldId="260"/>
            <ac:grpSpMk id="2" creationId="{00000000-0000-0000-0000-000000000000}"/>
          </ac:grpSpMkLst>
        </pc:grpChg>
      </pc:sldChg>
      <pc:sldChg chg="modSp mod">
        <pc:chgData name="盈慈 陳" userId="47c6c481c66a08f8" providerId="LiveId" clId="{C8E897B1-1C11-4474-A106-AD9E28844469}" dt="2026-09-06T23:45:21.601" v="28" actId="14100"/>
        <pc:sldMkLst>
          <pc:docMk/>
          <pc:sldMk cId="0" sldId="261"/>
        </pc:sldMkLst>
        <pc:spChg chg="mod">
          <ac:chgData name="盈慈 陳" userId="47c6c481c66a08f8" providerId="LiveId" clId="{C8E897B1-1C11-4474-A106-AD9E28844469}" dt="2026-09-06T23:44:52.234" v="21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盈慈 陳" userId="47c6c481c66a08f8" providerId="LiveId" clId="{C8E897B1-1C11-4474-A106-AD9E28844469}" dt="2026-09-06T23:45:21.601" v="28" actId="14100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6T23:45:11.457" v="27" actId="14100"/>
        <pc:sldMkLst>
          <pc:docMk/>
          <pc:sldMk cId="0" sldId="262"/>
        </pc:sldMkLst>
        <pc:spChg chg="mod">
          <ac:chgData name="盈慈 陳" userId="47c6c481c66a08f8" providerId="LiveId" clId="{C8E897B1-1C11-4474-A106-AD9E28844469}" dt="2026-09-06T23:45:07.121" v="26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盈慈 陳" userId="47c6c481c66a08f8" providerId="LiveId" clId="{C8E897B1-1C11-4474-A106-AD9E28844469}" dt="2026-09-06T23:45:11.457" v="27" actId="14100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B91CB-CBE7-4FBD-99DD-7AEB426519B9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53E18-8BC5-459A-A3D3-1F50846D61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43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53E18-8BC5-459A-A3D3-1F50846D61E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53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53E18-8BC5-459A-A3D3-1F50846D61E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70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53E18-8BC5-459A-A3D3-1F50846D61E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009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53E18-8BC5-459A-A3D3-1F50846D61E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849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53E18-8BC5-459A-A3D3-1F50846D61E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8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3478" y="1416508"/>
            <a:ext cx="11677721" cy="2052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2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Chapter 11</a:t>
            </a:r>
          </a:p>
          <a:p>
            <a:pPr algn="l">
              <a:lnSpc>
                <a:spcPts val="7419"/>
              </a:lnSpc>
            </a:pPr>
            <a:r>
              <a:rPr lang="en-US" sz="52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Work with Dates and Times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33479" y="4109233"/>
            <a:ext cx="7025272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Murach’s Python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6973" y="2267951"/>
            <a:ext cx="8464924" cy="6990349"/>
            <a:chOff x="0" y="0"/>
            <a:chExt cx="2229445" cy="1841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1841080"/>
            </a:xfrm>
            <a:custGeom>
              <a:avLst/>
              <a:gdLst/>
              <a:ahLst/>
              <a:cxnLst/>
              <a:rect l="l" t="t" r="r" b="b"/>
              <a:pathLst>
                <a:path w="2229445" h="1841080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1794436"/>
                  </a:lnTo>
                  <a:cubicBezTo>
                    <a:pt x="2229445" y="1820196"/>
                    <a:pt x="2208562" y="1841080"/>
                    <a:pt x="2182801" y="1841080"/>
                  </a:cubicBezTo>
                  <a:lnTo>
                    <a:pt x="46644" y="1841080"/>
                  </a:lnTo>
                  <a:cubicBezTo>
                    <a:pt x="20883" y="1841080"/>
                    <a:pt x="0" y="1820196"/>
                    <a:pt x="0" y="1794436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1898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3113" y="1095492"/>
            <a:ext cx="984428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buAutoNum type="arabicPeriod"/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date, time, and datetime objects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2754" y="2745141"/>
            <a:ext cx="8894219" cy="334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stores a calendar date.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stores a time of day.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datetime stores both a date and a time.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datetime.now() gets the current date and time.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9276" y="2754666"/>
            <a:ext cx="7840316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datetime import date, time, datetime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 = date.today()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start_time = time(9, 30)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= datetime.now()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print(today)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print(start_time)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print(now)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6973" y="2267951"/>
            <a:ext cx="8464924" cy="6990349"/>
            <a:chOff x="0" y="0"/>
            <a:chExt cx="2229445" cy="1841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1841080"/>
            </a:xfrm>
            <a:custGeom>
              <a:avLst/>
              <a:gdLst/>
              <a:ahLst/>
              <a:cxnLst/>
              <a:rect l="l" t="t" r="r" b="b"/>
              <a:pathLst>
                <a:path w="2229445" h="1841080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1794436"/>
                  </a:lnTo>
                  <a:cubicBezTo>
                    <a:pt x="2229445" y="1820196"/>
                    <a:pt x="2208562" y="1841080"/>
                    <a:pt x="2182801" y="1841080"/>
                  </a:cubicBezTo>
                  <a:lnTo>
                    <a:pt x="46644" y="1841080"/>
                  </a:lnTo>
                  <a:cubicBezTo>
                    <a:pt x="20883" y="1841080"/>
                    <a:pt x="0" y="1820196"/>
                    <a:pt x="0" y="1794436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1898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2754" y="1095492"/>
            <a:ext cx="813404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altLang="zh-TW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zh-TW" alt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Parsing and Formatting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81" y="3170444"/>
            <a:ext cx="8894219" cy="334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 err="1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strptime</a:t>
            </a:r>
            <a:r>
              <a:rPr lang="en-US" sz="37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converts a string to a datetime object.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 err="1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strptime</a:t>
            </a:r>
            <a:r>
              <a:rPr lang="en-US" sz="37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formats a date/time as a string.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format codes tell Python how the date is written.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9276" y="2754666"/>
            <a:ext cx="7500024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date_string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"12/25/2026"</a:t>
            </a:r>
          </a:p>
          <a:p>
            <a:pPr algn="l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christmas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datetime.strptime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date_string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"%m/%d/%Y"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)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formatted =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christmas.strftime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"%B %d, %Y"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)</a:t>
            </a:r>
          </a:p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print(formatted)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6973" y="1787525"/>
            <a:ext cx="8464924" cy="8203749"/>
            <a:chOff x="0" y="0"/>
            <a:chExt cx="2229445" cy="21606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2160658"/>
            </a:xfrm>
            <a:custGeom>
              <a:avLst/>
              <a:gdLst/>
              <a:ahLst/>
              <a:cxnLst/>
              <a:rect l="l" t="t" r="r" b="b"/>
              <a:pathLst>
                <a:path w="2229445" h="2160658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2114014"/>
                  </a:lnTo>
                  <a:cubicBezTo>
                    <a:pt x="2229445" y="2139775"/>
                    <a:pt x="2208562" y="2160658"/>
                    <a:pt x="2182801" y="2160658"/>
                  </a:cubicBezTo>
                  <a:lnTo>
                    <a:pt x="46644" y="2160658"/>
                  </a:lnTo>
                  <a:cubicBezTo>
                    <a:pt x="20883" y="2160658"/>
                    <a:pt x="0" y="2139775"/>
                    <a:pt x="0" y="2114014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2217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515938"/>
            <a:ext cx="1104900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altLang="zh-TW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</a:t>
            </a:r>
            <a:r>
              <a:rPr lang="zh-TW" alt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Date/Time Parts and </a:t>
            </a:r>
            <a:r>
              <a:rPr lang="en-US" sz="5000" b="1" dirty="0" err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Comparsions</a:t>
            </a:r>
            <a:endParaRPr lang="en-US" sz="5000" b="1" dirty="0">
              <a:solidFill>
                <a:srgbClr val="000B3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3086735"/>
            <a:ext cx="8894219" cy="400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parts with attributes such as .year, .month, .day, .hour, and .minute.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Date/time objects can be compared with &lt;, &gt;, and ==.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comparisons can be used in if statements.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423" y="2010820"/>
            <a:ext cx="7500024" cy="766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 = date.today()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print(today.year)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print(today.month)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print(today,day)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today &lt; christmas: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print(“Chrstmas is in the future.”)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elif today &gt; christmas: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print(“Christmas has passed.”)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print(“Today is Christmas.”)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6973" y="2267951"/>
            <a:ext cx="8464924" cy="5999749"/>
            <a:chOff x="0" y="0"/>
            <a:chExt cx="2229445" cy="1841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1841080"/>
            </a:xfrm>
            <a:custGeom>
              <a:avLst/>
              <a:gdLst/>
              <a:ahLst/>
              <a:cxnLst/>
              <a:rect l="l" t="t" r="r" b="b"/>
              <a:pathLst>
                <a:path w="2229445" h="1841080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1794436"/>
                  </a:lnTo>
                  <a:cubicBezTo>
                    <a:pt x="2229445" y="1820196"/>
                    <a:pt x="2208562" y="1841080"/>
                    <a:pt x="2182801" y="1841080"/>
                  </a:cubicBezTo>
                  <a:lnTo>
                    <a:pt x="46644" y="1841080"/>
                  </a:lnTo>
                  <a:cubicBezTo>
                    <a:pt x="20883" y="1841080"/>
                    <a:pt x="0" y="1820196"/>
                    <a:pt x="0" y="1794436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1898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2754" y="1095492"/>
            <a:ext cx="9206522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altLang="zh-TW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</a:t>
            </a:r>
            <a:r>
              <a:rPr lang="zh-TW" alt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with Spans of Time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81" y="3170444"/>
            <a:ext cx="8894219" cy="334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timedelta represents a span of time.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timedelta to calculate a future date.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Subtract dates/datetimes to calculate elapsed time.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.days to get the number of days.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9276" y="2754666"/>
            <a:ext cx="7500024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datetime import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timedelta</a:t>
            </a: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due_date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invoice_date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timedelta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(days30)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days_overdue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current_date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due_date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).days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608255"/>
            <a:ext cx="8464924" cy="7765900"/>
            <a:chOff x="0" y="0"/>
            <a:chExt cx="2229445" cy="20453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2045340"/>
            </a:xfrm>
            <a:custGeom>
              <a:avLst/>
              <a:gdLst/>
              <a:ahLst/>
              <a:cxnLst/>
              <a:rect l="l" t="t" r="r" b="b"/>
              <a:pathLst>
                <a:path w="2229445" h="2045340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1998696"/>
                  </a:lnTo>
                  <a:cubicBezTo>
                    <a:pt x="2229445" y="2024457"/>
                    <a:pt x="2208562" y="2045340"/>
                    <a:pt x="2182801" y="2045340"/>
                  </a:cubicBezTo>
                  <a:lnTo>
                    <a:pt x="46644" y="2045340"/>
                  </a:lnTo>
                  <a:cubicBezTo>
                    <a:pt x="20883" y="2045340"/>
                    <a:pt x="0" y="2024457"/>
                    <a:pt x="0" y="1998696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2102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2754" y="1095492"/>
            <a:ext cx="704571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altLang="zh-TW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</a:t>
            </a:r>
            <a:r>
              <a:rPr lang="zh-TW" alt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Textbook Programs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81" y="3170444"/>
            <a:ext cx="8894219" cy="467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Due Date: parse an invoice date, add 30 days, and determine whether it is overdue.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Timer: record a start time and stop time, then calculate elapsed time.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examples combine the chapter’s most useful date/time skills.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26450" y="2001091"/>
            <a:ext cx="7500024" cy="7023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Invoice Due Date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due_date = invoice_date + timedelta(days=30)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current_date = datetime.now()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days_overdue = (current_date - due_date).days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Timer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start_time = datetime.now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stop_time = datetime.now()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elapsed_time = stop_time - start_time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10801"/>
            <a:ext cx="6896100" cy="418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373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demo: Invoice Due Date | Quick demo: Timer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275219"/>
            <a:ext cx="8464924" cy="4122531"/>
            <a:chOff x="0" y="0"/>
            <a:chExt cx="2229445" cy="1085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9445" cy="1085770"/>
            </a:xfrm>
            <a:custGeom>
              <a:avLst/>
              <a:gdLst/>
              <a:ahLst/>
              <a:cxnLst/>
              <a:rect l="l" t="t" r="r" b="b"/>
              <a:pathLst>
                <a:path w="2229445" h="1085770">
                  <a:moveTo>
                    <a:pt x="46644" y="0"/>
                  </a:moveTo>
                  <a:lnTo>
                    <a:pt x="2182801" y="0"/>
                  </a:lnTo>
                  <a:cubicBezTo>
                    <a:pt x="2208562" y="0"/>
                    <a:pt x="2229445" y="20883"/>
                    <a:pt x="2229445" y="46644"/>
                  </a:cubicBezTo>
                  <a:lnTo>
                    <a:pt x="2229445" y="1039126"/>
                  </a:lnTo>
                  <a:cubicBezTo>
                    <a:pt x="2229445" y="1064886"/>
                    <a:pt x="2208562" y="1085770"/>
                    <a:pt x="2182801" y="1085770"/>
                  </a:cubicBezTo>
                  <a:lnTo>
                    <a:pt x="46644" y="1085770"/>
                  </a:lnTo>
                  <a:cubicBezTo>
                    <a:pt x="20883" y="1085770"/>
                    <a:pt x="0" y="1064886"/>
                    <a:pt x="0" y="1039126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9445" cy="114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2754" y="1095492"/>
            <a:ext cx="813404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altLang="zh-TW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</a:t>
            </a:r>
            <a:r>
              <a:rPr lang="zh-TW" alt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Chapter 11 Practice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81" y="3170444"/>
            <a:ext cx="8894219" cy="400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1: Get and print the current date and time.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2: Format the current date as MM/DD/YYYY.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3: Calculate and print the date 30 days from today.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27019" y="3901329"/>
            <a:ext cx="5898885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Useful methods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datetime.now()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strftime(“%m/%d/%Y”)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timedelta(days=30)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10801"/>
            <a:ext cx="4229100" cy="418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7373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time: about 5-8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570</Words>
  <Application>Microsoft Office PowerPoint</Application>
  <PresentationFormat>Custom</PresentationFormat>
  <Paragraphs>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Calibri</vt:lpstr>
      <vt:lpstr>Times New Roman Bold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Chapter_11_Dates_and_Times</dc:title>
  <cp:lastModifiedBy>盈慈 陳</cp:lastModifiedBy>
  <cp:revision>5</cp:revision>
  <dcterms:created xsi:type="dcterms:W3CDTF">2006-08-16T00:00:00Z</dcterms:created>
  <dcterms:modified xsi:type="dcterms:W3CDTF">2026-10-01T18:31:58Z</dcterms:modified>
  <dc:identifier>DAHUdjHB-Mc</dc:identifier>
</cp:coreProperties>
</file>