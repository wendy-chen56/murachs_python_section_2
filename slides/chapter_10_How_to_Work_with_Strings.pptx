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6858000" cy="9144000"/>
  <p:embeddedFontLst>
    <p:embeddedFont>
      <p:font typeface="Times New Roman Bold" panose="02020803070505020304" pitchFamily="18" charset="0"/>
      <p:regular r:id="rId10"/>
      <p:bold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61" d="100"/>
          <a:sy n="61" d="100"/>
        </p:scale>
        <p:origin x="780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盈慈 陳" userId="47c6c481c66a08f8" providerId="LiveId" clId="{C8E897B1-1C11-4474-A106-AD9E28844469}"/>
    <pc:docChg chg="modSld">
      <pc:chgData name="盈慈 陳" userId="47c6c481c66a08f8" providerId="LiveId" clId="{C8E897B1-1C11-4474-A106-AD9E28844469}" dt="2026-09-05T23:12:58.122" v="27" actId="14100"/>
      <pc:docMkLst>
        <pc:docMk/>
      </pc:docMkLst>
      <pc:sldChg chg="modSp mod">
        <pc:chgData name="盈慈 陳" userId="47c6c481c66a08f8" providerId="LiveId" clId="{C8E897B1-1C11-4474-A106-AD9E28844469}" dt="2026-09-05T23:11:29.857" v="0" actId="1076"/>
        <pc:sldMkLst>
          <pc:docMk/>
          <pc:sldMk cId="0" sldId="256"/>
        </pc:sldMkLst>
        <pc:spChg chg="mod">
          <ac:chgData name="盈慈 陳" userId="47c6c481c66a08f8" providerId="LiveId" clId="{C8E897B1-1C11-4474-A106-AD9E28844469}" dt="2026-09-05T23:11:29.857" v="0" actId="1076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05T23:12:10.696" v="1" actId="14100"/>
        <pc:sldMkLst>
          <pc:docMk/>
          <pc:sldMk cId="0" sldId="257"/>
        </pc:sldMkLst>
        <pc:spChg chg="mod">
          <ac:chgData name="盈慈 陳" userId="47c6c481c66a08f8" providerId="LiveId" clId="{C8E897B1-1C11-4474-A106-AD9E28844469}" dt="2026-09-05T23:12:10.696" v="1" actId="14100"/>
          <ac:spMkLst>
            <pc:docMk/>
            <pc:sldMk cId="0" sldId="257"/>
            <ac:spMk id="5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05T23:12:23.165" v="6" actId="14100"/>
        <pc:sldMkLst>
          <pc:docMk/>
          <pc:sldMk cId="0" sldId="258"/>
        </pc:sldMkLst>
        <pc:spChg chg="mod">
          <ac:chgData name="盈慈 陳" userId="47c6c481c66a08f8" providerId="LiveId" clId="{C8E897B1-1C11-4474-A106-AD9E28844469}" dt="2026-09-05T23:12:23.165" v="6" actId="14100"/>
          <ac:spMkLst>
            <pc:docMk/>
            <pc:sldMk cId="0" sldId="258"/>
            <ac:spMk id="5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05T23:12:30.518" v="11" actId="14100"/>
        <pc:sldMkLst>
          <pc:docMk/>
          <pc:sldMk cId="0" sldId="259"/>
        </pc:sldMkLst>
        <pc:spChg chg="mod">
          <ac:chgData name="盈慈 陳" userId="47c6c481c66a08f8" providerId="LiveId" clId="{C8E897B1-1C11-4474-A106-AD9E28844469}" dt="2026-09-05T23:12:30.518" v="11" actId="14100"/>
          <ac:spMkLst>
            <pc:docMk/>
            <pc:sldMk cId="0" sldId="259"/>
            <ac:spMk id="5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05T23:12:39.527" v="16" actId="14100"/>
        <pc:sldMkLst>
          <pc:docMk/>
          <pc:sldMk cId="0" sldId="260"/>
        </pc:sldMkLst>
        <pc:spChg chg="mod">
          <ac:chgData name="盈慈 陳" userId="47c6c481c66a08f8" providerId="LiveId" clId="{C8E897B1-1C11-4474-A106-AD9E28844469}" dt="2026-09-05T23:12:39.527" v="16" actId="14100"/>
          <ac:spMkLst>
            <pc:docMk/>
            <pc:sldMk cId="0" sldId="260"/>
            <ac:spMk id="5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05T23:12:50.136" v="22" actId="1076"/>
        <pc:sldMkLst>
          <pc:docMk/>
          <pc:sldMk cId="0" sldId="261"/>
        </pc:sldMkLst>
        <pc:spChg chg="mod">
          <ac:chgData name="盈慈 陳" userId="47c6c481c66a08f8" providerId="LiveId" clId="{C8E897B1-1C11-4474-A106-AD9E28844469}" dt="2026-09-05T23:12:50.136" v="22" actId="1076"/>
          <ac:spMkLst>
            <pc:docMk/>
            <pc:sldMk cId="0" sldId="261"/>
            <ac:spMk id="5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05T23:12:58.122" v="27" actId="14100"/>
        <pc:sldMkLst>
          <pc:docMk/>
          <pc:sldMk cId="0" sldId="262"/>
        </pc:sldMkLst>
        <pc:spChg chg="mod">
          <ac:chgData name="盈慈 陳" userId="47c6c481c66a08f8" providerId="LiveId" clId="{C8E897B1-1C11-4474-A106-AD9E28844469}" dt="2026-09-05T23:12:58.122" v="27" actId="14100"/>
          <ac:spMkLst>
            <pc:docMk/>
            <pc:sldMk cId="0" sldId="262"/>
            <ac:spMk id="5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838026" y="1998290"/>
            <a:ext cx="10611948" cy="26362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440"/>
              </a:lnSpc>
            </a:pPr>
            <a:r>
              <a:rPr lang="en-US" sz="7457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Chapter 10</a:t>
            </a:r>
          </a:p>
          <a:p>
            <a:pPr algn="ctr">
              <a:lnSpc>
                <a:spcPts val="10440"/>
              </a:lnSpc>
            </a:pPr>
            <a:r>
              <a:rPr lang="en-US" sz="7457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How to Work with Strings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029200" y="5981700"/>
            <a:ext cx="8514556" cy="691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59"/>
              </a:lnSpc>
            </a:pPr>
            <a:r>
              <a:rPr lang="en-US" sz="38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Murach’s Python Programming - Section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52408" y="2835888"/>
            <a:ext cx="7439194" cy="5838056"/>
            <a:chOff x="0" y="0"/>
            <a:chExt cx="1959294" cy="153759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959294" cy="1537595"/>
            </a:xfrm>
            <a:custGeom>
              <a:avLst/>
              <a:gdLst/>
              <a:ahLst/>
              <a:cxnLst/>
              <a:rect l="l" t="t" r="r" b="b"/>
              <a:pathLst>
                <a:path w="1959294" h="1537595">
                  <a:moveTo>
                    <a:pt x="53075" y="0"/>
                  </a:moveTo>
                  <a:lnTo>
                    <a:pt x="1906219" y="0"/>
                  </a:lnTo>
                  <a:cubicBezTo>
                    <a:pt x="1920295" y="0"/>
                    <a:pt x="1933795" y="5592"/>
                    <a:pt x="1943749" y="15545"/>
                  </a:cubicBezTo>
                  <a:cubicBezTo>
                    <a:pt x="1953702" y="25499"/>
                    <a:pt x="1959294" y="38999"/>
                    <a:pt x="1959294" y="53075"/>
                  </a:cubicBezTo>
                  <a:lnTo>
                    <a:pt x="1959294" y="1484520"/>
                  </a:lnTo>
                  <a:cubicBezTo>
                    <a:pt x="1959294" y="1498596"/>
                    <a:pt x="1953702" y="1512096"/>
                    <a:pt x="1943749" y="1522050"/>
                  </a:cubicBezTo>
                  <a:cubicBezTo>
                    <a:pt x="1933795" y="1532003"/>
                    <a:pt x="1920295" y="1537595"/>
                    <a:pt x="1906219" y="1537595"/>
                  </a:cubicBezTo>
                  <a:lnTo>
                    <a:pt x="53075" y="1537595"/>
                  </a:lnTo>
                  <a:cubicBezTo>
                    <a:pt x="23763" y="1537595"/>
                    <a:pt x="0" y="1513833"/>
                    <a:pt x="0" y="1484520"/>
                  </a:cubicBezTo>
                  <a:lnTo>
                    <a:pt x="0" y="53075"/>
                  </a:lnTo>
                  <a:cubicBezTo>
                    <a:pt x="0" y="38999"/>
                    <a:pt x="5592" y="25499"/>
                    <a:pt x="15545" y="15545"/>
                  </a:cubicBezTo>
                  <a:cubicBezTo>
                    <a:pt x="25499" y="5592"/>
                    <a:pt x="38999" y="0"/>
                    <a:pt x="53075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1959294" cy="159474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836628" y="1920218"/>
            <a:ext cx="9069371" cy="8583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122679" lvl="1" indent="-561340" algn="l">
              <a:lnSpc>
                <a:spcPts val="7279"/>
              </a:lnSpc>
              <a:buAutoNum type="arabicPeriod"/>
            </a:pPr>
            <a:r>
              <a:rPr lang="en-US" sz="5199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String Indexes and Slicing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412038" y="3891456"/>
            <a:ext cx="7704832" cy="3194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 index accesses one character in a string.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Positive indexes start at 0.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Negative indexes start from the end.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Slicing gets part of a string.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557827" y="3471773"/>
            <a:ext cx="5628356" cy="4471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message = "Hello out there!"</a:t>
            </a:r>
          </a:p>
          <a:p>
            <a:pPr algn="ctr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print(message[0])         # H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print(message[-1])         # !</a:t>
            </a:r>
          </a:p>
          <a:p>
            <a:pPr algn="ctr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print(message[:5])      # Hello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print(message[6:9])       # out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926893" y="2835888"/>
            <a:ext cx="8590012" cy="5838056"/>
            <a:chOff x="0" y="0"/>
            <a:chExt cx="2262390" cy="153759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62390" cy="1537595"/>
            </a:xfrm>
            <a:custGeom>
              <a:avLst/>
              <a:gdLst/>
              <a:ahLst/>
              <a:cxnLst/>
              <a:rect l="l" t="t" r="r" b="b"/>
              <a:pathLst>
                <a:path w="2262390" h="1537595">
                  <a:moveTo>
                    <a:pt x="45965" y="0"/>
                  </a:moveTo>
                  <a:lnTo>
                    <a:pt x="2216425" y="0"/>
                  </a:lnTo>
                  <a:cubicBezTo>
                    <a:pt x="2241811" y="0"/>
                    <a:pt x="2262390" y="20579"/>
                    <a:pt x="2262390" y="45965"/>
                  </a:cubicBezTo>
                  <a:lnTo>
                    <a:pt x="2262390" y="1491630"/>
                  </a:lnTo>
                  <a:cubicBezTo>
                    <a:pt x="2262390" y="1517016"/>
                    <a:pt x="2241811" y="1537595"/>
                    <a:pt x="2216425" y="1537595"/>
                  </a:cubicBezTo>
                  <a:lnTo>
                    <a:pt x="45965" y="1537595"/>
                  </a:lnTo>
                  <a:cubicBezTo>
                    <a:pt x="20579" y="1537595"/>
                    <a:pt x="0" y="1517016"/>
                    <a:pt x="0" y="1491630"/>
                  </a:cubicBezTo>
                  <a:lnTo>
                    <a:pt x="0" y="45965"/>
                  </a:lnTo>
                  <a:cubicBezTo>
                    <a:pt x="0" y="20579"/>
                    <a:pt x="20579" y="0"/>
                    <a:pt x="45965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2262390" cy="159474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811611" y="1344809"/>
            <a:ext cx="11151789" cy="8583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61339" lvl="1" algn="l">
              <a:lnSpc>
                <a:spcPts val="7279"/>
              </a:lnSpc>
            </a:pPr>
            <a:r>
              <a:rPr lang="en-US" altLang="zh-TW" sz="5199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2.</a:t>
            </a:r>
            <a:r>
              <a:rPr lang="zh-TW" altLang="en-US" sz="5199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5199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Search and Loop Through Strings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61931" y="3781860"/>
            <a:ext cx="7704832" cy="3434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59"/>
              </a:lnSpc>
            </a:pPr>
            <a:r>
              <a:rPr lang="en-US" sz="38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 in to search for text inside a string.</a:t>
            </a:r>
          </a:p>
          <a:p>
            <a:pPr algn="l">
              <a:lnSpc>
                <a:spcPts val="5459"/>
              </a:lnSpc>
            </a:pPr>
            <a:r>
              <a:rPr lang="en-US" sz="38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String searches are case-sensitive.</a:t>
            </a:r>
          </a:p>
          <a:p>
            <a:pPr algn="l">
              <a:lnSpc>
                <a:spcPts val="5459"/>
              </a:lnSpc>
            </a:pPr>
            <a:r>
              <a:rPr lang="en-US" sz="38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for loop can process one character at  a time.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479673" y="3221595"/>
            <a:ext cx="7284309" cy="5109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spam = "You’ve won a million dollars."</a:t>
            </a:r>
          </a:p>
          <a:p>
            <a:pPr algn="ctr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print("million" in spam)         #True</a:t>
            </a:r>
          </a:p>
          <a:p>
            <a:pPr algn="ctr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message = "Hi !"</a:t>
            </a:r>
          </a:p>
          <a:p>
            <a:pPr algn="ctr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 char in message: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print(char)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926893" y="2835888"/>
            <a:ext cx="8590012" cy="5838056"/>
            <a:chOff x="0" y="0"/>
            <a:chExt cx="2262390" cy="153759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62390" cy="1537595"/>
            </a:xfrm>
            <a:custGeom>
              <a:avLst/>
              <a:gdLst/>
              <a:ahLst/>
              <a:cxnLst/>
              <a:rect l="l" t="t" r="r" b="b"/>
              <a:pathLst>
                <a:path w="2262390" h="1537595">
                  <a:moveTo>
                    <a:pt x="45965" y="0"/>
                  </a:moveTo>
                  <a:lnTo>
                    <a:pt x="2216425" y="0"/>
                  </a:lnTo>
                  <a:cubicBezTo>
                    <a:pt x="2241811" y="0"/>
                    <a:pt x="2262390" y="20579"/>
                    <a:pt x="2262390" y="45965"/>
                  </a:cubicBezTo>
                  <a:lnTo>
                    <a:pt x="2262390" y="1491630"/>
                  </a:lnTo>
                  <a:cubicBezTo>
                    <a:pt x="2262390" y="1517016"/>
                    <a:pt x="2241811" y="1537595"/>
                    <a:pt x="2216425" y="1537595"/>
                  </a:cubicBezTo>
                  <a:lnTo>
                    <a:pt x="45965" y="1537595"/>
                  </a:lnTo>
                  <a:cubicBezTo>
                    <a:pt x="20579" y="1537595"/>
                    <a:pt x="0" y="1517016"/>
                    <a:pt x="0" y="1491630"/>
                  </a:cubicBezTo>
                  <a:lnTo>
                    <a:pt x="0" y="45965"/>
                  </a:lnTo>
                  <a:cubicBezTo>
                    <a:pt x="0" y="20579"/>
                    <a:pt x="20579" y="0"/>
                    <a:pt x="45965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2262390" cy="159474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811610" y="1344809"/>
            <a:ext cx="8027589" cy="8583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61339" lvl="1" algn="l">
              <a:lnSpc>
                <a:spcPts val="7279"/>
              </a:lnSpc>
            </a:pPr>
            <a:r>
              <a:rPr lang="en-US" altLang="zh-TW" sz="5199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3.</a:t>
            </a:r>
            <a:r>
              <a:rPr lang="zh-TW" altLang="en-US" sz="5199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5199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Basic String Methods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3373755"/>
            <a:ext cx="7704832" cy="4120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59"/>
              </a:lnSpc>
            </a:pPr>
            <a:r>
              <a:rPr lang="en-US" sz="38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isdigit() checks for digits.</a:t>
            </a:r>
          </a:p>
          <a:p>
            <a:pPr algn="l">
              <a:lnSpc>
                <a:spcPts val="5459"/>
              </a:lnSpc>
            </a:pPr>
            <a:r>
              <a:rPr lang="en-US" sz="38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startswith() checks the beginning of a string.</a:t>
            </a:r>
          </a:p>
          <a:p>
            <a:pPr algn="l">
              <a:lnSpc>
                <a:spcPts val="5459"/>
              </a:lnSpc>
            </a:pPr>
            <a:r>
              <a:rPr lang="en-US" sz="38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title() changes text to title case.</a:t>
            </a:r>
          </a:p>
          <a:p>
            <a:pPr algn="l">
              <a:lnSpc>
                <a:spcPts val="5459"/>
              </a:lnSpc>
            </a:pPr>
            <a:r>
              <a:rPr lang="en-US" sz="38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strip() removes extra whitespace.</a:t>
            </a:r>
          </a:p>
          <a:p>
            <a:pPr algn="l">
              <a:lnSpc>
                <a:spcPts val="5459"/>
              </a:lnSpc>
            </a:pPr>
            <a:r>
              <a:rPr lang="en-US" sz="38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ljust() and rjust() align text.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479673" y="3221595"/>
            <a:ext cx="7284309" cy="5109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entry = "12345"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print(entry.isdigit())</a:t>
            </a:r>
          </a:p>
          <a:p>
            <a:pPr algn="ctr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movie = "the meaning of life"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print(movie.title())</a:t>
            </a:r>
          </a:p>
          <a:p>
            <a:pPr algn="ctr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ssn = " 392 55 7722 "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print(ssn.strip())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926893" y="2835888"/>
            <a:ext cx="8590012" cy="6788732"/>
            <a:chOff x="0" y="0"/>
            <a:chExt cx="2262390" cy="178797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62390" cy="1787979"/>
            </a:xfrm>
            <a:custGeom>
              <a:avLst/>
              <a:gdLst/>
              <a:ahLst/>
              <a:cxnLst/>
              <a:rect l="l" t="t" r="r" b="b"/>
              <a:pathLst>
                <a:path w="2262390" h="1787979">
                  <a:moveTo>
                    <a:pt x="45965" y="0"/>
                  </a:moveTo>
                  <a:lnTo>
                    <a:pt x="2216425" y="0"/>
                  </a:lnTo>
                  <a:cubicBezTo>
                    <a:pt x="2241811" y="0"/>
                    <a:pt x="2262390" y="20579"/>
                    <a:pt x="2262390" y="45965"/>
                  </a:cubicBezTo>
                  <a:lnTo>
                    <a:pt x="2262390" y="1742014"/>
                  </a:lnTo>
                  <a:cubicBezTo>
                    <a:pt x="2262390" y="1767400"/>
                    <a:pt x="2241811" y="1787979"/>
                    <a:pt x="2216425" y="1787979"/>
                  </a:cubicBezTo>
                  <a:lnTo>
                    <a:pt x="45965" y="1787979"/>
                  </a:lnTo>
                  <a:cubicBezTo>
                    <a:pt x="20579" y="1787979"/>
                    <a:pt x="0" y="1767400"/>
                    <a:pt x="0" y="1742014"/>
                  </a:cubicBezTo>
                  <a:lnTo>
                    <a:pt x="0" y="45965"/>
                  </a:lnTo>
                  <a:cubicBezTo>
                    <a:pt x="0" y="20579"/>
                    <a:pt x="20579" y="0"/>
                    <a:pt x="45965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2262390" cy="18451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811610" y="1344809"/>
            <a:ext cx="9322989" cy="8583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61339" lvl="1" algn="l">
              <a:lnSpc>
                <a:spcPts val="7279"/>
              </a:lnSpc>
            </a:pPr>
            <a:r>
              <a:rPr lang="en-US" altLang="zh-TW" sz="5199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4.</a:t>
            </a:r>
            <a:r>
              <a:rPr lang="zh-TW" altLang="en-US" sz="5199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5199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Find, Replace, and Remove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3708511"/>
            <a:ext cx="7704832" cy="3517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find() returns the position of text.</a:t>
            </a:r>
          </a:p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If text is not found, find() returns -1.</a:t>
            </a:r>
          </a:p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replace() replaces characters or text.</a:t>
            </a:r>
          </a:p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removeprefix() and removesuffix() remove text from the ends.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479673" y="3221595"/>
            <a:ext cx="7284309" cy="5747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email = "joel.murach@com"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print(email.find("@"))        # 11</a:t>
            </a:r>
          </a:p>
          <a:p>
            <a:pPr algn="ctr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phone = "555-555-1234"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phone = phone.replace("-",  "")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print(phone)</a:t>
            </a:r>
          </a:p>
          <a:p>
            <a:pPr algn="ctr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email = "joel@murach.com"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print(email.removeprefix("joel"))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926893" y="2435603"/>
            <a:ext cx="8590012" cy="7189017"/>
            <a:chOff x="0" y="0"/>
            <a:chExt cx="2262390" cy="189340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62390" cy="1893404"/>
            </a:xfrm>
            <a:custGeom>
              <a:avLst/>
              <a:gdLst/>
              <a:ahLst/>
              <a:cxnLst/>
              <a:rect l="l" t="t" r="r" b="b"/>
              <a:pathLst>
                <a:path w="2262390" h="1893404">
                  <a:moveTo>
                    <a:pt x="45965" y="0"/>
                  </a:moveTo>
                  <a:lnTo>
                    <a:pt x="2216425" y="0"/>
                  </a:lnTo>
                  <a:cubicBezTo>
                    <a:pt x="2241811" y="0"/>
                    <a:pt x="2262390" y="20579"/>
                    <a:pt x="2262390" y="45965"/>
                  </a:cubicBezTo>
                  <a:lnTo>
                    <a:pt x="2262390" y="1847439"/>
                  </a:lnTo>
                  <a:cubicBezTo>
                    <a:pt x="2262390" y="1872824"/>
                    <a:pt x="2241811" y="1893404"/>
                    <a:pt x="2216425" y="1893404"/>
                  </a:cubicBezTo>
                  <a:lnTo>
                    <a:pt x="45965" y="1893404"/>
                  </a:lnTo>
                  <a:cubicBezTo>
                    <a:pt x="20579" y="1893404"/>
                    <a:pt x="0" y="1872824"/>
                    <a:pt x="0" y="1847439"/>
                  </a:cubicBezTo>
                  <a:lnTo>
                    <a:pt x="0" y="45965"/>
                  </a:lnTo>
                  <a:cubicBezTo>
                    <a:pt x="0" y="20579"/>
                    <a:pt x="20579" y="0"/>
                    <a:pt x="45965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2262390" cy="19505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771095" y="1577226"/>
            <a:ext cx="5665389" cy="8583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61339" lvl="1" algn="l">
              <a:lnSpc>
                <a:spcPts val="7279"/>
              </a:lnSpc>
            </a:pPr>
            <a:r>
              <a:rPr lang="en-US" altLang="zh-TW" sz="5199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5.</a:t>
            </a:r>
            <a:r>
              <a:rPr lang="zh-TW" altLang="en-US" sz="5199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5199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Split Strings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53647" y="3633458"/>
            <a:ext cx="7629779" cy="281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split() converts one string into a list.</a:t>
            </a:r>
          </a:p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By default, it splits on whitespace.</a:t>
            </a:r>
          </a:p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We can choose a delimiter such as / or |.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579744" y="2872740"/>
            <a:ext cx="7284309" cy="63855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quotation = "These are the times"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words = qoatation.split()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print(words)</a:t>
            </a:r>
          </a:p>
          <a:p>
            <a:pPr algn="ctr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date = "11/9/1972"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date = date.split("/")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print(date)</a:t>
            </a:r>
          </a:p>
          <a:p>
            <a:pPr algn="ctr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address = "John Doe|New York|NY"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print(address.split("|"))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926893" y="1985283"/>
            <a:ext cx="8590012" cy="7639337"/>
            <a:chOff x="0" y="0"/>
            <a:chExt cx="2262390" cy="201200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62390" cy="2012006"/>
            </a:xfrm>
            <a:custGeom>
              <a:avLst/>
              <a:gdLst/>
              <a:ahLst/>
              <a:cxnLst/>
              <a:rect l="l" t="t" r="r" b="b"/>
              <a:pathLst>
                <a:path w="2262390" h="2012006">
                  <a:moveTo>
                    <a:pt x="45965" y="0"/>
                  </a:moveTo>
                  <a:lnTo>
                    <a:pt x="2216425" y="0"/>
                  </a:lnTo>
                  <a:cubicBezTo>
                    <a:pt x="2241811" y="0"/>
                    <a:pt x="2262390" y="20579"/>
                    <a:pt x="2262390" y="45965"/>
                  </a:cubicBezTo>
                  <a:lnTo>
                    <a:pt x="2262390" y="1966042"/>
                  </a:lnTo>
                  <a:cubicBezTo>
                    <a:pt x="2262390" y="1991427"/>
                    <a:pt x="2241811" y="2012006"/>
                    <a:pt x="2216425" y="2012006"/>
                  </a:cubicBezTo>
                  <a:lnTo>
                    <a:pt x="45965" y="2012006"/>
                  </a:lnTo>
                  <a:cubicBezTo>
                    <a:pt x="20579" y="2012006"/>
                    <a:pt x="0" y="1991427"/>
                    <a:pt x="0" y="1966042"/>
                  </a:cubicBezTo>
                  <a:lnTo>
                    <a:pt x="0" y="45965"/>
                  </a:lnTo>
                  <a:cubicBezTo>
                    <a:pt x="0" y="20579"/>
                    <a:pt x="20579" y="0"/>
                    <a:pt x="45965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2262390" cy="20691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811610" y="1344809"/>
            <a:ext cx="5360589" cy="8583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61339" lvl="1" algn="l">
              <a:lnSpc>
                <a:spcPts val="7279"/>
              </a:lnSpc>
            </a:pPr>
            <a:r>
              <a:rPr lang="en-US" altLang="zh-TW" sz="5199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6.</a:t>
            </a:r>
            <a:r>
              <a:rPr lang="zh-TW" altLang="en-US" sz="5199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5199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Join Strings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53647" y="3633458"/>
            <a:ext cx="7629779" cy="4222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join() combines a sequence into one string.</a:t>
            </a:r>
          </a:p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delimiter is placed between each item.</a:t>
            </a:r>
          </a:p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It is useful when working with list and text files.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579744" y="2245459"/>
            <a:ext cx="7284309" cy="7023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address = [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"John Doe",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"New York",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"NY",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"10001"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]</a:t>
            </a:r>
          </a:p>
          <a:p>
            <a:pPr algn="ctr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print("|".join(address))</a:t>
            </a:r>
          </a:p>
          <a:p>
            <a:pPr algn="ctr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letters = "HORSE"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print(" ".join(letters))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780315" y="1427444"/>
            <a:ext cx="3270647" cy="10642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39"/>
              </a:lnSpc>
            </a:pPr>
            <a:r>
              <a:rPr lang="en-US" sz="6099" b="1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Summary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860732" y="3683403"/>
            <a:ext cx="12558283" cy="3898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59"/>
              </a:lnSpc>
            </a:pPr>
            <a:r>
              <a:rPr lang="en-US" sz="43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 indexes and slicing to access string data.</a:t>
            </a:r>
          </a:p>
          <a:p>
            <a:pPr algn="l">
              <a:lnSpc>
                <a:spcPts val="6159"/>
              </a:lnSpc>
            </a:pPr>
            <a:r>
              <a:rPr lang="en-US" sz="43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 in and for to search and process strings.</a:t>
            </a:r>
          </a:p>
          <a:p>
            <a:pPr algn="l">
              <a:lnSpc>
                <a:spcPts val="6159"/>
              </a:lnSpc>
            </a:pPr>
            <a:r>
              <a:rPr lang="en-US" sz="43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 string methods to validate and format text.</a:t>
            </a:r>
          </a:p>
          <a:p>
            <a:pPr algn="l">
              <a:lnSpc>
                <a:spcPts val="6159"/>
              </a:lnSpc>
            </a:pPr>
            <a:r>
              <a:rPr lang="en-US" sz="43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 find(), replace(), and remove methods to edit text.</a:t>
            </a:r>
          </a:p>
          <a:p>
            <a:pPr algn="l">
              <a:lnSpc>
                <a:spcPts val="6159"/>
              </a:lnSpc>
            </a:pPr>
            <a:r>
              <a:rPr lang="en-US" sz="43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 split() and join() to move between strings and lists.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529</Words>
  <Application>Microsoft Office PowerPoint</Application>
  <PresentationFormat>Custom</PresentationFormat>
  <Paragraphs>90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Times New Roman Bold</vt:lpstr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10 How to Work with Strings</dc:title>
  <cp:lastModifiedBy>盈慈 陳</cp:lastModifiedBy>
  <cp:revision>1</cp:revision>
  <dcterms:created xsi:type="dcterms:W3CDTF">2006-08-16T00:00:00Z</dcterms:created>
  <dcterms:modified xsi:type="dcterms:W3CDTF">2026-09-05T23:13:01Z</dcterms:modified>
  <dc:identifier>DAHUXvZ4-5k</dc:identifier>
</cp:coreProperties>
</file>