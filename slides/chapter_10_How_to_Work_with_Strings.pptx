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8288000" cy="10287000"/>
  <p:notesSz cx="6858000" cy="9144000"/>
  <p:embeddedFontLs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4575" autoAdjust="0"/>
  </p:normalViewPr>
  <p:slideViewPr>
    <p:cSldViewPr>
      <p:cViewPr varScale="1">
        <p:scale>
          <a:sx n="36" d="100"/>
          <a:sy n="36" d="100"/>
        </p:scale>
        <p:origin x="52" y="4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盈慈 陳" userId="47c6c481c66a08f8" providerId="LiveId" clId="{C8E897B1-1C11-4474-A106-AD9E28844469}"/>
    <pc:docChg chg="modSld">
      <pc:chgData name="盈慈 陳" userId="47c6c481c66a08f8" providerId="LiveId" clId="{C8E897B1-1C11-4474-A106-AD9E28844469}" dt="2026-09-05T23:12:58.122" v="27" actId="14100"/>
      <pc:docMkLst>
        <pc:docMk/>
      </pc:docMkLst>
      <pc:sldChg chg="modSp mod">
        <pc:chgData name="盈慈 陳" userId="47c6c481c66a08f8" providerId="LiveId" clId="{C8E897B1-1C11-4474-A106-AD9E28844469}" dt="2026-09-05T23:11:29.857" v="0" actId="1076"/>
        <pc:sldMkLst>
          <pc:docMk/>
          <pc:sldMk cId="0" sldId="256"/>
        </pc:sldMkLst>
        <pc:spChg chg="mod">
          <ac:chgData name="盈慈 陳" userId="47c6c481c66a08f8" providerId="LiveId" clId="{C8E897B1-1C11-4474-A106-AD9E28844469}" dt="2026-09-05T23:11:29.857" v="0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5T23:12:10.696" v="1" actId="14100"/>
        <pc:sldMkLst>
          <pc:docMk/>
          <pc:sldMk cId="0" sldId="257"/>
        </pc:sldMkLst>
        <pc:spChg chg="mod">
          <ac:chgData name="盈慈 陳" userId="47c6c481c66a08f8" providerId="LiveId" clId="{C8E897B1-1C11-4474-A106-AD9E28844469}" dt="2026-09-05T23:12:10.696" v="1" actId="14100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5T23:12:23.165" v="6" actId="14100"/>
        <pc:sldMkLst>
          <pc:docMk/>
          <pc:sldMk cId="0" sldId="258"/>
        </pc:sldMkLst>
        <pc:spChg chg="mod">
          <ac:chgData name="盈慈 陳" userId="47c6c481c66a08f8" providerId="LiveId" clId="{C8E897B1-1C11-4474-A106-AD9E28844469}" dt="2026-09-05T23:12:23.165" v="6" actId="14100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5T23:12:30.518" v="11" actId="14100"/>
        <pc:sldMkLst>
          <pc:docMk/>
          <pc:sldMk cId="0" sldId="259"/>
        </pc:sldMkLst>
        <pc:spChg chg="mod">
          <ac:chgData name="盈慈 陳" userId="47c6c481c66a08f8" providerId="LiveId" clId="{C8E897B1-1C11-4474-A106-AD9E28844469}" dt="2026-09-05T23:12:30.518" v="11" actId="14100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5T23:12:39.527" v="16" actId="14100"/>
        <pc:sldMkLst>
          <pc:docMk/>
          <pc:sldMk cId="0" sldId="260"/>
        </pc:sldMkLst>
        <pc:spChg chg="mod">
          <ac:chgData name="盈慈 陳" userId="47c6c481c66a08f8" providerId="LiveId" clId="{C8E897B1-1C11-4474-A106-AD9E28844469}" dt="2026-09-05T23:12:39.527" v="16" actId="14100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5T23:12:50.136" v="22" actId="1076"/>
        <pc:sldMkLst>
          <pc:docMk/>
          <pc:sldMk cId="0" sldId="261"/>
        </pc:sldMkLst>
        <pc:spChg chg="mod">
          <ac:chgData name="盈慈 陳" userId="47c6c481c66a08f8" providerId="LiveId" clId="{C8E897B1-1C11-4474-A106-AD9E28844469}" dt="2026-09-05T23:12:50.136" v="22" actId="1076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05T23:12:58.122" v="27" actId="14100"/>
        <pc:sldMkLst>
          <pc:docMk/>
          <pc:sldMk cId="0" sldId="262"/>
        </pc:sldMkLst>
        <pc:spChg chg="mod">
          <ac:chgData name="盈慈 陳" userId="47c6c481c66a08f8" providerId="LiveId" clId="{C8E897B1-1C11-4474-A106-AD9E28844469}" dt="2026-09-05T23:12:58.122" v="27" actId="14100"/>
          <ac:spMkLst>
            <pc:docMk/>
            <pc:sldMk cId="0" sldId="26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92856-7F4D-4C29-9C58-10799B6E7057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7A861-61C3-4844-9E8F-4F4FC7449C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79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90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946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919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7334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392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672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676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6752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7A861-61C3-4844-9E8F-4F4FC7449C6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53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8026" y="1998290"/>
            <a:ext cx="10611948" cy="263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0"/>
              </a:lnSpc>
            </a:pPr>
            <a:r>
              <a:rPr lang="en-US" sz="7457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Chapter 10</a:t>
            </a:r>
          </a:p>
          <a:p>
            <a:pPr algn="ctr">
              <a:lnSpc>
                <a:spcPts val="10440"/>
              </a:lnSpc>
            </a:pPr>
            <a:r>
              <a:rPr lang="en-US" sz="7457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to Work with Strings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9200" y="5981700"/>
            <a:ext cx="851455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Murach’s Python Programming - Section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52408" y="2835888"/>
            <a:ext cx="7439194" cy="5838056"/>
            <a:chOff x="0" y="0"/>
            <a:chExt cx="1959294" cy="153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9294" cy="1537595"/>
            </a:xfrm>
            <a:custGeom>
              <a:avLst/>
              <a:gdLst/>
              <a:ahLst/>
              <a:cxnLst/>
              <a:rect l="l" t="t" r="r" b="b"/>
              <a:pathLst>
                <a:path w="1959294" h="1537595">
                  <a:moveTo>
                    <a:pt x="53075" y="0"/>
                  </a:moveTo>
                  <a:lnTo>
                    <a:pt x="1906219" y="0"/>
                  </a:lnTo>
                  <a:cubicBezTo>
                    <a:pt x="1920295" y="0"/>
                    <a:pt x="1933795" y="5592"/>
                    <a:pt x="1943749" y="15545"/>
                  </a:cubicBezTo>
                  <a:cubicBezTo>
                    <a:pt x="1953702" y="25499"/>
                    <a:pt x="1959294" y="38999"/>
                    <a:pt x="1959294" y="53075"/>
                  </a:cubicBezTo>
                  <a:lnTo>
                    <a:pt x="1959294" y="1484520"/>
                  </a:lnTo>
                  <a:cubicBezTo>
                    <a:pt x="1959294" y="1498596"/>
                    <a:pt x="1953702" y="1512096"/>
                    <a:pt x="1943749" y="1522050"/>
                  </a:cubicBezTo>
                  <a:cubicBezTo>
                    <a:pt x="1933795" y="1532003"/>
                    <a:pt x="1920295" y="1537595"/>
                    <a:pt x="1906219" y="1537595"/>
                  </a:cubicBezTo>
                  <a:lnTo>
                    <a:pt x="53075" y="1537595"/>
                  </a:lnTo>
                  <a:cubicBezTo>
                    <a:pt x="23763" y="1537595"/>
                    <a:pt x="0" y="1513833"/>
                    <a:pt x="0" y="1484520"/>
                  </a:cubicBezTo>
                  <a:lnTo>
                    <a:pt x="0" y="53075"/>
                  </a:lnTo>
                  <a:cubicBezTo>
                    <a:pt x="0" y="38999"/>
                    <a:pt x="5592" y="25499"/>
                    <a:pt x="15545" y="15545"/>
                  </a:cubicBezTo>
                  <a:cubicBezTo>
                    <a:pt x="25499" y="5592"/>
                    <a:pt x="38999" y="0"/>
                    <a:pt x="5307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9294" cy="1594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36628" y="1920218"/>
            <a:ext cx="906937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Indexes and Slicing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2038" y="3891456"/>
            <a:ext cx="7704832" cy="319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index accesses one character in a string.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indexes start at 0.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indexes start from the end.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Slicing gets part of a string.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57827" y="3471773"/>
            <a:ext cx="5628356" cy="44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= "Hello out there!"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print(message[0])         # H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print(message[-1])         # !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print(message[:5])      # Hello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print(message[6:9])       #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52408" y="2835888"/>
            <a:ext cx="7439194" cy="5838056"/>
            <a:chOff x="0" y="0"/>
            <a:chExt cx="1959294" cy="153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9294" cy="1537595"/>
            </a:xfrm>
            <a:custGeom>
              <a:avLst/>
              <a:gdLst/>
              <a:ahLst/>
              <a:cxnLst/>
              <a:rect l="l" t="t" r="r" b="b"/>
              <a:pathLst>
                <a:path w="1959294" h="1537595">
                  <a:moveTo>
                    <a:pt x="53075" y="0"/>
                  </a:moveTo>
                  <a:lnTo>
                    <a:pt x="1906219" y="0"/>
                  </a:lnTo>
                  <a:cubicBezTo>
                    <a:pt x="1920295" y="0"/>
                    <a:pt x="1933795" y="5592"/>
                    <a:pt x="1943749" y="15545"/>
                  </a:cubicBezTo>
                  <a:cubicBezTo>
                    <a:pt x="1953702" y="25499"/>
                    <a:pt x="1959294" y="38999"/>
                    <a:pt x="1959294" y="53075"/>
                  </a:cubicBezTo>
                  <a:lnTo>
                    <a:pt x="1959294" y="1484520"/>
                  </a:lnTo>
                  <a:cubicBezTo>
                    <a:pt x="1959294" y="1498596"/>
                    <a:pt x="1953702" y="1512096"/>
                    <a:pt x="1943749" y="1522050"/>
                  </a:cubicBezTo>
                  <a:cubicBezTo>
                    <a:pt x="1933795" y="1532003"/>
                    <a:pt x="1920295" y="1537595"/>
                    <a:pt x="1906219" y="1537595"/>
                  </a:cubicBezTo>
                  <a:lnTo>
                    <a:pt x="53075" y="1537595"/>
                  </a:lnTo>
                  <a:cubicBezTo>
                    <a:pt x="23763" y="1537595"/>
                    <a:pt x="0" y="1513833"/>
                    <a:pt x="0" y="1484520"/>
                  </a:cubicBezTo>
                  <a:lnTo>
                    <a:pt x="0" y="53075"/>
                  </a:lnTo>
                  <a:cubicBezTo>
                    <a:pt x="0" y="38999"/>
                    <a:pt x="5592" y="25499"/>
                    <a:pt x="15545" y="15545"/>
                  </a:cubicBezTo>
                  <a:cubicBezTo>
                    <a:pt x="25499" y="5592"/>
                    <a:pt x="38999" y="0"/>
                    <a:pt x="5307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9294" cy="1594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36628" y="1920218"/>
            <a:ext cx="906937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Repetition and Multiline Strings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2157" y="3848100"/>
            <a:ext cx="7704832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* to repeat a string.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quotes can create a multiline string.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multiline string can continue across more than one line.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57827" y="3471773"/>
            <a:ext cx="5628356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print("=" * 20)</a:t>
            </a:r>
          </a:p>
          <a:p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 horse! " * 2)</a:t>
            </a:r>
          </a:p>
          <a:p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= '''SELECT </a:t>
            </a:r>
            <a:r>
              <a:rPr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categoryID</a:t>
            </a:r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name AS </a:t>
            </a:r>
            <a:r>
              <a:rPr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categoryName</a:t>
            </a:r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Category WHERE </a:t>
            </a:r>
            <a:r>
              <a:rPr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categoryID</a:t>
            </a:r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?'''</a:t>
            </a:r>
          </a:p>
          <a:p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print(query)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6893" y="2835888"/>
            <a:ext cx="8590012" cy="5838056"/>
            <a:chOff x="0" y="0"/>
            <a:chExt cx="2262390" cy="153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2390" cy="1537595"/>
            </a:xfrm>
            <a:custGeom>
              <a:avLst/>
              <a:gdLst/>
              <a:ahLst/>
              <a:cxnLst/>
              <a:rect l="l" t="t" r="r" b="b"/>
              <a:pathLst>
                <a:path w="2262390" h="1537595">
                  <a:moveTo>
                    <a:pt x="45965" y="0"/>
                  </a:moveTo>
                  <a:lnTo>
                    <a:pt x="2216425" y="0"/>
                  </a:lnTo>
                  <a:cubicBezTo>
                    <a:pt x="2241811" y="0"/>
                    <a:pt x="2262390" y="20579"/>
                    <a:pt x="2262390" y="45965"/>
                  </a:cubicBezTo>
                  <a:lnTo>
                    <a:pt x="2262390" y="1491630"/>
                  </a:lnTo>
                  <a:cubicBezTo>
                    <a:pt x="2262390" y="1517016"/>
                    <a:pt x="2241811" y="1537595"/>
                    <a:pt x="2216425" y="1537595"/>
                  </a:cubicBezTo>
                  <a:lnTo>
                    <a:pt x="45965" y="1537595"/>
                  </a:lnTo>
                  <a:cubicBezTo>
                    <a:pt x="20579" y="1537595"/>
                    <a:pt x="0" y="1517016"/>
                    <a:pt x="0" y="1491630"/>
                  </a:cubicBezTo>
                  <a:lnTo>
                    <a:pt x="0" y="45965"/>
                  </a:lnTo>
                  <a:cubicBezTo>
                    <a:pt x="0" y="20579"/>
                    <a:pt x="20579" y="0"/>
                    <a:pt x="4596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62390" cy="1594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11611" y="1344809"/>
            <a:ext cx="1115178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Search and Loop Through Strings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3771900"/>
            <a:ext cx="7704832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to search for text inside a string.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searches are case-sensitive.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can process one character at a time.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9673" y="3221595"/>
            <a:ext cx="7284309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= "Congratulations. You've won a million dollars."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print("million" in spam)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print("Million" in spam)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print("on" in spam)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= "Hi!"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char in message: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print(char)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6893" y="2835888"/>
            <a:ext cx="8590012" cy="5838056"/>
            <a:chOff x="0" y="0"/>
            <a:chExt cx="2262390" cy="153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2390" cy="1537595"/>
            </a:xfrm>
            <a:custGeom>
              <a:avLst/>
              <a:gdLst/>
              <a:ahLst/>
              <a:cxnLst/>
              <a:rect l="l" t="t" r="r" b="b"/>
              <a:pathLst>
                <a:path w="2262390" h="1537595">
                  <a:moveTo>
                    <a:pt x="45965" y="0"/>
                  </a:moveTo>
                  <a:lnTo>
                    <a:pt x="2216425" y="0"/>
                  </a:lnTo>
                  <a:cubicBezTo>
                    <a:pt x="2241811" y="0"/>
                    <a:pt x="2262390" y="20579"/>
                    <a:pt x="2262390" y="45965"/>
                  </a:cubicBezTo>
                  <a:lnTo>
                    <a:pt x="2262390" y="1491630"/>
                  </a:lnTo>
                  <a:cubicBezTo>
                    <a:pt x="2262390" y="1517016"/>
                    <a:pt x="2241811" y="1537595"/>
                    <a:pt x="2216425" y="1537595"/>
                  </a:cubicBezTo>
                  <a:lnTo>
                    <a:pt x="45965" y="1537595"/>
                  </a:lnTo>
                  <a:cubicBezTo>
                    <a:pt x="20579" y="1537595"/>
                    <a:pt x="0" y="1517016"/>
                    <a:pt x="0" y="1491630"/>
                  </a:cubicBezTo>
                  <a:lnTo>
                    <a:pt x="0" y="45965"/>
                  </a:lnTo>
                  <a:cubicBezTo>
                    <a:pt x="0" y="20579"/>
                    <a:pt x="20579" y="0"/>
                    <a:pt x="4596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62390" cy="1594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11610" y="1344809"/>
            <a:ext cx="802758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Basic String Methods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373755"/>
            <a:ext cx="7704832" cy="412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isdigit() checks for digits.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startswith() checks the beginning of a string.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title() changes text to title case.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strip() removes extra whitespace.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ljust() and rjust() align text.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9673" y="3221595"/>
            <a:ext cx="7284309" cy="510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 = "12345"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print(entry.isdigit())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 = "the meaning of life"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print(movie.title())</a:t>
            </a:r>
          </a:p>
          <a:p>
            <a:pPr algn="ctr">
              <a:lnSpc>
                <a:spcPts val="5039"/>
              </a:lnSpc>
            </a:pPr>
            <a:endParaRPr lang="en-US" sz="3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 = " 392 55 7722 "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print(ssn.strip())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6893" y="2835888"/>
            <a:ext cx="8590012" cy="6788732"/>
            <a:chOff x="0" y="0"/>
            <a:chExt cx="2262390" cy="17879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2390" cy="1787979"/>
            </a:xfrm>
            <a:custGeom>
              <a:avLst/>
              <a:gdLst/>
              <a:ahLst/>
              <a:cxnLst/>
              <a:rect l="l" t="t" r="r" b="b"/>
              <a:pathLst>
                <a:path w="2262390" h="1787979">
                  <a:moveTo>
                    <a:pt x="45965" y="0"/>
                  </a:moveTo>
                  <a:lnTo>
                    <a:pt x="2216425" y="0"/>
                  </a:lnTo>
                  <a:cubicBezTo>
                    <a:pt x="2241811" y="0"/>
                    <a:pt x="2262390" y="20579"/>
                    <a:pt x="2262390" y="45965"/>
                  </a:cubicBezTo>
                  <a:lnTo>
                    <a:pt x="2262390" y="1742014"/>
                  </a:lnTo>
                  <a:cubicBezTo>
                    <a:pt x="2262390" y="1767400"/>
                    <a:pt x="2241811" y="1787979"/>
                    <a:pt x="2216425" y="1787979"/>
                  </a:cubicBezTo>
                  <a:lnTo>
                    <a:pt x="45965" y="1787979"/>
                  </a:lnTo>
                  <a:cubicBezTo>
                    <a:pt x="20579" y="1787979"/>
                    <a:pt x="0" y="1767400"/>
                    <a:pt x="0" y="1742014"/>
                  </a:cubicBezTo>
                  <a:lnTo>
                    <a:pt x="0" y="45965"/>
                  </a:lnTo>
                  <a:cubicBezTo>
                    <a:pt x="0" y="20579"/>
                    <a:pt x="20579" y="0"/>
                    <a:pt x="4596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62390" cy="1845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11610" y="1344809"/>
            <a:ext cx="932298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>
                <a:latin typeface="Times New Roman" panose="02020603050405020304" pitchFamily="18" charset="0"/>
                <a:cs typeface="Times New Roman" panose="02020603050405020304" pitchFamily="18" charset="0"/>
              </a:rPr>
              <a:t>5. Find, Replace, and Remove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708511"/>
            <a:ext cx="7704832" cy="351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find() returns the position of text.</a:t>
            </a:r>
          </a:p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text is not found, find() returns -1.</a:t>
            </a:r>
          </a:p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replace() replaces characters or text.</a:t>
            </a:r>
          </a:p>
          <a:p>
            <a:pPr algn="l">
              <a:lnSpc>
                <a:spcPts val="5599"/>
              </a:lnSpc>
            </a:pPr>
            <a:r>
              <a:rPr lang="en-US" sz="3999" dirty="0" err="1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removeprefix</a:t>
            </a: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and </a:t>
            </a:r>
            <a:r>
              <a:rPr lang="en-US" sz="3999" dirty="0" err="1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removesuffix</a:t>
            </a: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remove text from the ends.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9673" y="3221595"/>
            <a:ext cx="7284309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= "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joel.murach@com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email.find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("@"))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phone_number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"555-555-1234"</a:t>
            </a:r>
          </a:p>
          <a:p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phone_number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phone_number.replace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("-", "")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phone_number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= "joel@murach.com"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email.removeprefix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joel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6893" y="2435603"/>
            <a:ext cx="8590012" cy="7189017"/>
            <a:chOff x="0" y="0"/>
            <a:chExt cx="2262390" cy="18934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2390" cy="1893404"/>
            </a:xfrm>
            <a:custGeom>
              <a:avLst/>
              <a:gdLst/>
              <a:ahLst/>
              <a:cxnLst/>
              <a:rect l="l" t="t" r="r" b="b"/>
              <a:pathLst>
                <a:path w="2262390" h="1893404">
                  <a:moveTo>
                    <a:pt x="45965" y="0"/>
                  </a:moveTo>
                  <a:lnTo>
                    <a:pt x="2216425" y="0"/>
                  </a:lnTo>
                  <a:cubicBezTo>
                    <a:pt x="2241811" y="0"/>
                    <a:pt x="2262390" y="20579"/>
                    <a:pt x="2262390" y="45965"/>
                  </a:cubicBezTo>
                  <a:lnTo>
                    <a:pt x="2262390" y="1847439"/>
                  </a:lnTo>
                  <a:cubicBezTo>
                    <a:pt x="2262390" y="1872824"/>
                    <a:pt x="2241811" y="1893404"/>
                    <a:pt x="2216425" y="1893404"/>
                  </a:cubicBezTo>
                  <a:lnTo>
                    <a:pt x="45965" y="1893404"/>
                  </a:lnTo>
                  <a:cubicBezTo>
                    <a:pt x="20579" y="1893404"/>
                    <a:pt x="0" y="1872824"/>
                    <a:pt x="0" y="1847439"/>
                  </a:cubicBezTo>
                  <a:lnTo>
                    <a:pt x="0" y="45965"/>
                  </a:lnTo>
                  <a:cubicBezTo>
                    <a:pt x="0" y="20579"/>
                    <a:pt x="20579" y="0"/>
                    <a:pt x="4596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62390" cy="1950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1095" y="1577226"/>
            <a:ext cx="566538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Split Strings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3647" y="3633458"/>
            <a:ext cx="7629779" cy="281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split() converts one string into a list.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it splits on whitespace.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choose a delimiter such as / or |.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79744" y="2872740"/>
            <a:ext cx="7284309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quotation = "These are the times that try men's souls."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 = 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quotation.split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print(words[0])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= "11/9/1972"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= 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date.split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("/")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print(date)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= "John Doe|1500 Any 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Street|New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York|NY|10001"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address.split</a:t>
            </a:r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("|"))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6893" y="1985283"/>
            <a:ext cx="8590012" cy="7639337"/>
            <a:chOff x="0" y="0"/>
            <a:chExt cx="2262390" cy="20120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2390" cy="2012006"/>
            </a:xfrm>
            <a:custGeom>
              <a:avLst/>
              <a:gdLst/>
              <a:ahLst/>
              <a:cxnLst/>
              <a:rect l="l" t="t" r="r" b="b"/>
              <a:pathLst>
                <a:path w="2262390" h="2012006">
                  <a:moveTo>
                    <a:pt x="45965" y="0"/>
                  </a:moveTo>
                  <a:lnTo>
                    <a:pt x="2216425" y="0"/>
                  </a:lnTo>
                  <a:cubicBezTo>
                    <a:pt x="2241811" y="0"/>
                    <a:pt x="2262390" y="20579"/>
                    <a:pt x="2262390" y="45965"/>
                  </a:cubicBezTo>
                  <a:lnTo>
                    <a:pt x="2262390" y="1966042"/>
                  </a:lnTo>
                  <a:cubicBezTo>
                    <a:pt x="2262390" y="1991427"/>
                    <a:pt x="2241811" y="2012006"/>
                    <a:pt x="2216425" y="2012006"/>
                  </a:cubicBezTo>
                  <a:lnTo>
                    <a:pt x="45965" y="2012006"/>
                  </a:lnTo>
                  <a:cubicBezTo>
                    <a:pt x="20579" y="2012006"/>
                    <a:pt x="0" y="1991427"/>
                    <a:pt x="0" y="1966042"/>
                  </a:cubicBezTo>
                  <a:lnTo>
                    <a:pt x="0" y="45965"/>
                  </a:lnTo>
                  <a:cubicBezTo>
                    <a:pt x="0" y="20579"/>
                    <a:pt x="20579" y="0"/>
                    <a:pt x="4596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62390" cy="206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11610" y="1344809"/>
            <a:ext cx="536058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Join Strings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3647" y="3633458"/>
            <a:ext cx="7629779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join() combines a sequence into one string.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delimiter is placed between each item.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opposite idea of split().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79744" y="2245459"/>
            <a:ext cx="7284309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= [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"John Doe",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"1500 Any Street",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"New York",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"NY",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"10001"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print("|".join(address))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letters = "HORSE"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 ".join(letters))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52408" y="2835888"/>
            <a:ext cx="7439194" cy="5838056"/>
            <a:chOff x="0" y="0"/>
            <a:chExt cx="1959294" cy="153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9294" cy="1537595"/>
            </a:xfrm>
            <a:custGeom>
              <a:avLst/>
              <a:gdLst/>
              <a:ahLst/>
              <a:cxnLst/>
              <a:rect l="l" t="t" r="r" b="b"/>
              <a:pathLst>
                <a:path w="1959294" h="1537595">
                  <a:moveTo>
                    <a:pt x="53075" y="0"/>
                  </a:moveTo>
                  <a:lnTo>
                    <a:pt x="1906219" y="0"/>
                  </a:lnTo>
                  <a:cubicBezTo>
                    <a:pt x="1920295" y="0"/>
                    <a:pt x="1933795" y="5592"/>
                    <a:pt x="1943749" y="15545"/>
                  </a:cubicBezTo>
                  <a:cubicBezTo>
                    <a:pt x="1953702" y="25499"/>
                    <a:pt x="1959294" y="38999"/>
                    <a:pt x="1959294" y="53075"/>
                  </a:cubicBezTo>
                  <a:lnTo>
                    <a:pt x="1959294" y="1484520"/>
                  </a:lnTo>
                  <a:cubicBezTo>
                    <a:pt x="1959294" y="1498596"/>
                    <a:pt x="1953702" y="1512096"/>
                    <a:pt x="1943749" y="1522050"/>
                  </a:cubicBezTo>
                  <a:cubicBezTo>
                    <a:pt x="1933795" y="1532003"/>
                    <a:pt x="1920295" y="1537595"/>
                    <a:pt x="1906219" y="1537595"/>
                  </a:cubicBezTo>
                  <a:lnTo>
                    <a:pt x="53075" y="1537595"/>
                  </a:lnTo>
                  <a:cubicBezTo>
                    <a:pt x="23763" y="1537595"/>
                    <a:pt x="0" y="1513833"/>
                    <a:pt x="0" y="1484520"/>
                  </a:cubicBezTo>
                  <a:lnTo>
                    <a:pt x="0" y="53075"/>
                  </a:lnTo>
                  <a:cubicBezTo>
                    <a:pt x="0" y="38999"/>
                    <a:pt x="5592" y="25499"/>
                    <a:pt x="15545" y="15545"/>
                  </a:cubicBezTo>
                  <a:cubicBezTo>
                    <a:pt x="25499" y="5592"/>
                    <a:pt x="38999" y="0"/>
                    <a:pt x="5307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59294" cy="1594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36628" y="1920218"/>
            <a:ext cx="906937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Practice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2038" y="3891456"/>
            <a:ext cx="7704832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practice_ch10.py in IDLE.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file with F5.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the Chapter 10 string skills from the lesson.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1800" y="3467100"/>
            <a:ext cx="5628356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 includes:</a:t>
            </a:r>
          </a:p>
          <a:p>
            <a:endParaRPr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Indexing and slicing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Searching with in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String methods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find() and replace()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split()</a:t>
            </a:r>
          </a:p>
          <a:p>
            <a:r>
              <a:rPr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join()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0315" y="1427444"/>
            <a:ext cx="613508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sz="4000">
                <a:latin typeface="Times New Roman" panose="02020603050405020304" pitchFamily="18" charset="0"/>
                <a:cs typeface="Times New Roman" panose="02020603050405020304" pitchFamily="18" charset="0"/>
              </a:rPr>
              <a:t>Chapter 10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60732" y="3683403"/>
            <a:ext cx="12558283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indexes and slicing to access string data.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repetition and multiline strings.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and for to search and process strings.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string methods to validate and format text.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find(), replace(), and remove methods to edit text.</a:t>
            </a:r>
          </a:p>
          <a:p>
            <a:r>
              <a:rPr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split() and join() to move between strings and 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706</Words>
  <Application>Microsoft Office PowerPoint</Application>
  <PresentationFormat>Custom</PresentationFormat>
  <Paragraphs>125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Calibri</vt:lpstr>
      <vt:lpstr>Times New Roman Bold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 How to Work with Strings</dc:title>
  <cp:lastModifiedBy>盈慈 陳</cp:lastModifiedBy>
  <cp:revision>4</cp:revision>
  <dcterms:created xsi:type="dcterms:W3CDTF">2006-08-16T00:00:00Z</dcterms:created>
  <dcterms:modified xsi:type="dcterms:W3CDTF">2026-10-01T18:30:30Z</dcterms:modified>
  <dc:identifier>DAHUXvZ4-5k</dc:identifier>
</cp:coreProperties>
</file>