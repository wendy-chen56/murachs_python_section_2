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Times New Roman Bold" panose="02020803070505020304" pitchFamily="18" charset="0"/>
      <p:regular r:id="rId13"/>
      <p:bold r:id="rId1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61" d="100"/>
          <a:sy n="61" d="100"/>
        </p:scale>
        <p:origin x="78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盈慈 陳" userId="47c6c481c66a08f8" providerId="LiveId" clId="{C8E897B1-1C11-4474-A106-AD9E28844469}"/>
    <pc:docChg chg="modSld">
      <pc:chgData name="盈慈 陳" userId="47c6c481c66a08f8" providerId="LiveId" clId="{C8E897B1-1C11-4474-A106-AD9E28844469}" dt="2026-09-04T22:50:04.638" v="9" actId="14100"/>
      <pc:docMkLst>
        <pc:docMk/>
      </pc:docMkLst>
      <pc:sldChg chg="modSp mod">
        <pc:chgData name="盈慈 陳" userId="47c6c481c66a08f8" providerId="LiveId" clId="{C8E897B1-1C11-4474-A106-AD9E28844469}" dt="2026-09-04T22:48:49.827" v="1" actId="14100"/>
        <pc:sldMkLst>
          <pc:docMk/>
          <pc:sldMk cId="0" sldId="256"/>
        </pc:sldMkLst>
        <pc:spChg chg="mod">
          <ac:chgData name="盈慈 陳" userId="47c6c481c66a08f8" providerId="LiveId" clId="{C8E897B1-1C11-4474-A106-AD9E28844469}" dt="2026-09-04T22:48:46.547" v="0" actId="14100"/>
          <ac:spMkLst>
            <pc:docMk/>
            <pc:sldMk cId="0" sldId="256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04T22:48:49.827" v="1" actId="14100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4T22:49:09.562" v="3" actId="14100"/>
        <pc:sldMkLst>
          <pc:docMk/>
          <pc:sldMk cId="0" sldId="259"/>
        </pc:sldMkLst>
        <pc:spChg chg="mod">
          <ac:chgData name="盈慈 陳" userId="47c6c481c66a08f8" providerId="LiveId" clId="{C8E897B1-1C11-4474-A106-AD9E28844469}" dt="2026-09-04T22:49:09.562" v="3" actId="14100"/>
          <ac:spMkLst>
            <pc:docMk/>
            <pc:sldMk cId="0" sldId="259"/>
            <ac:spMk id="10" creationId="{00000000-0000-0000-0000-000000000000}"/>
          </ac:spMkLst>
        </pc:spChg>
        <pc:spChg chg="mod">
          <ac:chgData name="盈慈 陳" userId="47c6c481c66a08f8" providerId="LiveId" clId="{C8E897B1-1C11-4474-A106-AD9E28844469}" dt="2026-09-04T22:48:59.251" v="2" actId="14100"/>
          <ac:spMkLst>
            <pc:docMk/>
            <pc:sldMk cId="0" sldId="259"/>
            <ac:spMk id="12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4T22:49:34.676" v="6" actId="14100"/>
        <pc:sldMkLst>
          <pc:docMk/>
          <pc:sldMk cId="0" sldId="260"/>
        </pc:sldMkLst>
        <pc:spChg chg="mod">
          <ac:chgData name="盈慈 陳" userId="47c6c481c66a08f8" providerId="LiveId" clId="{C8E897B1-1C11-4474-A106-AD9E28844469}" dt="2026-09-04T22:49:34.676" v="6" actId="14100"/>
          <ac:spMkLst>
            <pc:docMk/>
            <pc:sldMk cId="0" sldId="260"/>
            <ac:spMk id="2" creationId="{00000000-0000-0000-0000-000000000000}"/>
          </ac:spMkLst>
        </pc:spChg>
        <pc:spChg chg="mod">
          <ac:chgData name="盈慈 陳" userId="47c6c481c66a08f8" providerId="LiveId" clId="{C8E897B1-1C11-4474-A106-AD9E28844469}" dt="2026-09-04T22:49:22.794" v="5" actId="14100"/>
          <ac:spMkLst>
            <pc:docMk/>
            <pc:sldMk cId="0" sldId="260"/>
            <ac:spMk id="7" creationId="{00000000-0000-0000-0000-000000000000}"/>
          </ac:spMkLst>
        </pc:spChg>
        <pc:spChg chg="mod">
          <ac:chgData name="盈慈 陳" userId="47c6c481c66a08f8" providerId="LiveId" clId="{C8E897B1-1C11-4474-A106-AD9E28844469}" dt="2026-09-04T22:49:19.840" v="4" actId="14100"/>
          <ac:spMkLst>
            <pc:docMk/>
            <pc:sldMk cId="0" sldId="260"/>
            <ac:spMk id="11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4T22:49:37.983" v="7" actId="14100"/>
        <pc:sldMkLst>
          <pc:docMk/>
          <pc:sldMk cId="0" sldId="261"/>
        </pc:sldMkLst>
        <pc:spChg chg="mod">
          <ac:chgData name="盈慈 陳" userId="47c6c481c66a08f8" providerId="LiveId" clId="{C8E897B1-1C11-4474-A106-AD9E28844469}" dt="2026-09-04T22:49:37.983" v="7" actId="14100"/>
          <ac:spMkLst>
            <pc:docMk/>
            <pc:sldMk cId="0" sldId="261"/>
            <ac:spMk id="2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4T22:49:51.235" v="8" actId="14100"/>
        <pc:sldMkLst>
          <pc:docMk/>
          <pc:sldMk cId="0" sldId="263"/>
        </pc:sldMkLst>
        <pc:spChg chg="mod">
          <ac:chgData name="盈慈 陳" userId="47c6c481c66a08f8" providerId="LiveId" clId="{C8E897B1-1C11-4474-A106-AD9E28844469}" dt="2026-09-04T22:49:51.235" v="8" actId="14100"/>
          <ac:spMkLst>
            <pc:docMk/>
            <pc:sldMk cId="0" sldId="263"/>
            <ac:spMk id="10" creationId="{00000000-0000-0000-0000-000000000000}"/>
          </ac:spMkLst>
        </pc:spChg>
      </pc:sldChg>
      <pc:sldChg chg="modSp mod">
        <pc:chgData name="盈慈 陳" userId="47c6c481c66a08f8" providerId="LiveId" clId="{C8E897B1-1C11-4474-A106-AD9E28844469}" dt="2026-09-04T22:50:04.638" v="9" actId="14100"/>
        <pc:sldMkLst>
          <pc:docMk/>
          <pc:sldMk cId="0" sldId="265"/>
        </pc:sldMkLst>
        <pc:spChg chg="mod">
          <ac:chgData name="盈慈 陳" userId="47c6c481c66a08f8" providerId="LiveId" clId="{C8E897B1-1C11-4474-A106-AD9E28844469}" dt="2026-09-04T22:50:04.638" v="9" actId="14100"/>
          <ac:spMkLst>
            <pc:docMk/>
            <pc:sldMk cId="0" sldId="265"/>
            <ac:spMk id="2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Wendy-Chen56/murachs_python_section_2/blob/main/code/chapter09/practice_ch09.py" TargetMode="Externa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B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028700" y="1509370"/>
            <a:ext cx="11163300" cy="223950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862"/>
              </a:lnSpc>
            </a:pPr>
            <a:r>
              <a:rPr lang="en-US" sz="633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Chapter 9</a:t>
            </a:r>
          </a:p>
          <a:p>
            <a:pPr algn="l">
              <a:lnSpc>
                <a:spcPts val="8862"/>
              </a:lnSpc>
            </a:pPr>
            <a:r>
              <a:rPr lang="en-US" sz="633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How to Work with Numbers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8700" y="4147610"/>
            <a:ext cx="6667500" cy="6588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Murach’s Python Programming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028700" y="5410317"/>
            <a:ext cx="4119761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IDEL + GIT Workshop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10839" y="2974975"/>
            <a:ext cx="11834862" cy="47339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971544" lvl="1" indent="-485772" algn="l">
              <a:lnSpc>
                <a:spcPts val="6299"/>
              </a:lnSpc>
              <a:buAutoNum type="arabicPeriod"/>
            </a:pPr>
            <a:r>
              <a:rPr lang="en-US" sz="4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Open the repository and Charter 9 files</a:t>
            </a:r>
          </a:p>
          <a:p>
            <a:pPr marL="971544" lvl="1" indent="-485772" algn="l">
              <a:lnSpc>
                <a:spcPts val="6299"/>
              </a:lnSpc>
              <a:buAutoNum type="arabicPeriod"/>
            </a:pPr>
            <a:r>
              <a:rPr lang="en-US" sz="4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Run the examples in IDLE</a:t>
            </a:r>
          </a:p>
          <a:p>
            <a:pPr marL="971544" lvl="1" indent="-485772" algn="l">
              <a:lnSpc>
                <a:spcPts val="6299"/>
              </a:lnSpc>
              <a:buAutoNum type="arabicPeriod"/>
            </a:pPr>
            <a:r>
              <a:rPr lang="en-US" sz="4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Observe floating-point behavior and rounding</a:t>
            </a:r>
          </a:p>
          <a:p>
            <a:pPr marL="971544" lvl="1" indent="-485772" algn="l">
              <a:lnSpc>
                <a:spcPts val="6299"/>
              </a:lnSpc>
              <a:buAutoNum type="arabicPeriod"/>
            </a:pPr>
            <a:r>
              <a:rPr lang="en-US" sz="4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math, f-strings, and Decimal</a:t>
            </a:r>
          </a:p>
          <a:p>
            <a:pPr marL="971544" lvl="1" indent="-485772" algn="l">
              <a:lnSpc>
                <a:spcPts val="6299"/>
              </a:lnSpc>
              <a:buAutoNum type="arabicPeriod"/>
            </a:pPr>
            <a:r>
              <a:rPr lang="en-US" sz="4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Practice</a:t>
            </a:r>
          </a:p>
          <a:p>
            <a:pPr marL="971544" lvl="1" indent="-485772" algn="l">
              <a:lnSpc>
                <a:spcPts val="6299"/>
              </a:lnSpc>
              <a:buAutoNum type="arabicPeriod"/>
            </a:pPr>
            <a:r>
              <a:rPr lang="en-US" sz="4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Check your change with Git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254571" y="1205088"/>
            <a:ext cx="5279231" cy="915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Today’s Workshop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2229554" y="3634113"/>
            <a:ext cx="6488519" cy="4787309"/>
            <a:chOff x="0" y="0"/>
            <a:chExt cx="1708910" cy="126085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708910" cy="1260855"/>
            </a:xfrm>
            <a:custGeom>
              <a:avLst/>
              <a:gdLst/>
              <a:ahLst/>
              <a:cxnLst/>
              <a:rect l="l" t="t" r="r" b="b"/>
              <a:pathLst>
                <a:path w="1708910" h="1260855">
                  <a:moveTo>
                    <a:pt x="60852" y="0"/>
                  </a:moveTo>
                  <a:lnTo>
                    <a:pt x="1648059" y="0"/>
                  </a:lnTo>
                  <a:cubicBezTo>
                    <a:pt x="1664197" y="0"/>
                    <a:pt x="1679675" y="6411"/>
                    <a:pt x="1691087" y="17823"/>
                  </a:cubicBezTo>
                  <a:cubicBezTo>
                    <a:pt x="1702499" y="29235"/>
                    <a:pt x="1708910" y="44713"/>
                    <a:pt x="1708910" y="60852"/>
                  </a:cubicBezTo>
                  <a:lnTo>
                    <a:pt x="1708910" y="1200003"/>
                  </a:lnTo>
                  <a:cubicBezTo>
                    <a:pt x="1708910" y="1233611"/>
                    <a:pt x="1681666" y="1260855"/>
                    <a:pt x="1648059" y="1260855"/>
                  </a:cubicBezTo>
                  <a:lnTo>
                    <a:pt x="60852" y="1260855"/>
                  </a:lnTo>
                  <a:cubicBezTo>
                    <a:pt x="44713" y="1260855"/>
                    <a:pt x="29235" y="1254444"/>
                    <a:pt x="17823" y="1243032"/>
                  </a:cubicBezTo>
                  <a:cubicBezTo>
                    <a:pt x="6411" y="1231620"/>
                    <a:pt x="0" y="1216142"/>
                    <a:pt x="0" y="1200003"/>
                  </a:cubicBezTo>
                  <a:lnTo>
                    <a:pt x="0" y="60852"/>
                  </a:lnTo>
                  <a:cubicBezTo>
                    <a:pt x="0" y="44713"/>
                    <a:pt x="6411" y="29235"/>
                    <a:pt x="17823" y="17823"/>
                  </a:cubicBezTo>
                  <a:cubicBezTo>
                    <a:pt x="29235" y="6411"/>
                    <a:pt x="44713" y="0"/>
                    <a:pt x="60852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708910" cy="131800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9839494" y="3662322"/>
            <a:ext cx="7315200" cy="2011680"/>
          </a:xfrm>
          <a:custGeom>
            <a:avLst/>
            <a:gdLst/>
            <a:ahLst/>
            <a:cxnLst/>
            <a:rect l="l" t="t" r="r" b="b"/>
            <a:pathLst>
              <a:path w="7315200" h="2011680">
                <a:moveTo>
                  <a:pt x="0" y="0"/>
                </a:moveTo>
                <a:lnTo>
                  <a:pt x="7315200" y="0"/>
                </a:lnTo>
                <a:lnTo>
                  <a:pt x="7315200" y="2011680"/>
                </a:lnTo>
                <a:lnTo>
                  <a:pt x="0" y="20116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6" name="TextBox 6"/>
          <p:cNvSpPr txBox="1"/>
          <p:nvPr/>
        </p:nvSpPr>
        <p:spPr>
          <a:xfrm>
            <a:off x="2229554" y="904875"/>
            <a:ext cx="3925987" cy="915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Start in IDLE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2229554" y="2150597"/>
            <a:ext cx="10606895" cy="6584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79"/>
              </a:lnSpc>
            </a:pPr>
            <a:r>
              <a:rPr lang="en-US" sz="36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Use the IDLE for quick tests, then run the .py module.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0654129" y="4112260"/>
            <a:ext cx="5553303" cy="1031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</a:pPr>
            <a:r>
              <a:rPr lang="en-US" sz="290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&gt;&gt;&gt; means the Python Shell is ready for your command.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3717757" y="4483780"/>
            <a:ext cx="3301703" cy="32873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&gt;&gt;&gt; 2 + 2</a:t>
            </a:r>
          </a:p>
          <a:p>
            <a:pPr algn="ctr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r>
          </a:p>
          <a:p>
            <a:pPr algn="ctr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&gt;&gt;&gt; x = 5</a:t>
            </a:r>
          </a:p>
          <a:p>
            <a:pPr algn="ctr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&gt;&gt;&gt; print(x)</a:t>
            </a:r>
          </a:p>
          <a:p>
            <a:pPr algn="ctr">
              <a:lnSpc>
                <a:spcPts val="5179"/>
              </a:lnSpc>
            </a:pPr>
            <a:r>
              <a:rPr lang="en-US" sz="36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r>
          </a:p>
        </p:txBody>
      </p:sp>
      <p:sp>
        <p:nvSpPr>
          <p:cNvPr id="10" name="Freeform 10"/>
          <p:cNvSpPr/>
          <p:nvPr/>
        </p:nvSpPr>
        <p:spPr>
          <a:xfrm>
            <a:off x="9773181" y="6175102"/>
            <a:ext cx="7315200" cy="2011680"/>
          </a:xfrm>
          <a:custGeom>
            <a:avLst/>
            <a:gdLst/>
            <a:ahLst/>
            <a:cxnLst/>
            <a:rect l="l" t="t" r="r" b="b"/>
            <a:pathLst>
              <a:path w="7315200" h="2011680">
                <a:moveTo>
                  <a:pt x="0" y="0"/>
                </a:moveTo>
                <a:lnTo>
                  <a:pt x="7315200" y="0"/>
                </a:lnTo>
                <a:lnTo>
                  <a:pt x="7315200" y="2011680"/>
                </a:lnTo>
                <a:lnTo>
                  <a:pt x="0" y="201168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1" name="TextBox 11"/>
          <p:cNvSpPr txBox="1"/>
          <p:nvPr/>
        </p:nvSpPr>
        <p:spPr>
          <a:xfrm>
            <a:off x="10482774" y="6627223"/>
            <a:ext cx="6028641" cy="1031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60"/>
              </a:lnSpc>
            </a:pPr>
            <a:r>
              <a:rPr lang="en-US" sz="290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For the lesson file: Run → Run Module (F5)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460131" y="3660771"/>
            <a:ext cx="7364141" cy="4562149"/>
            <a:chOff x="0" y="0"/>
            <a:chExt cx="1939527" cy="120155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939527" cy="1201554"/>
            </a:xfrm>
            <a:custGeom>
              <a:avLst/>
              <a:gdLst/>
              <a:ahLst/>
              <a:cxnLst/>
              <a:rect l="l" t="t" r="r" b="b"/>
              <a:pathLst>
                <a:path w="1939527" h="1201554">
                  <a:moveTo>
                    <a:pt x="53616" y="0"/>
                  </a:moveTo>
                  <a:lnTo>
                    <a:pt x="1885911" y="0"/>
                  </a:lnTo>
                  <a:cubicBezTo>
                    <a:pt x="1900131" y="0"/>
                    <a:pt x="1913768" y="5649"/>
                    <a:pt x="1923823" y="15704"/>
                  </a:cubicBezTo>
                  <a:cubicBezTo>
                    <a:pt x="1933878" y="25759"/>
                    <a:pt x="1939527" y="39396"/>
                    <a:pt x="1939527" y="53616"/>
                  </a:cubicBezTo>
                  <a:lnTo>
                    <a:pt x="1939527" y="1147937"/>
                  </a:lnTo>
                  <a:cubicBezTo>
                    <a:pt x="1939527" y="1177549"/>
                    <a:pt x="1915522" y="1201554"/>
                    <a:pt x="1885911" y="1201554"/>
                  </a:cubicBezTo>
                  <a:lnTo>
                    <a:pt x="53616" y="1201554"/>
                  </a:lnTo>
                  <a:cubicBezTo>
                    <a:pt x="24005" y="1201554"/>
                    <a:pt x="0" y="1177549"/>
                    <a:pt x="0" y="1147937"/>
                  </a:cubicBezTo>
                  <a:lnTo>
                    <a:pt x="0" y="53616"/>
                  </a:lnTo>
                  <a:cubicBezTo>
                    <a:pt x="0" y="39396"/>
                    <a:pt x="5649" y="25759"/>
                    <a:pt x="15704" y="15704"/>
                  </a:cubicBezTo>
                  <a:cubicBezTo>
                    <a:pt x="25759" y="5649"/>
                    <a:pt x="39396" y="0"/>
                    <a:pt x="53616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1939527" cy="12587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9869978" y="5774889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6"/>
                </a:lnTo>
                <a:lnTo>
                  <a:pt x="0" y="1928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6" name="Freeform 6"/>
          <p:cNvSpPr/>
          <p:nvPr/>
        </p:nvSpPr>
        <p:spPr>
          <a:xfrm>
            <a:off x="13471352" y="3336465"/>
            <a:ext cx="4233009" cy="2053009"/>
          </a:xfrm>
          <a:custGeom>
            <a:avLst/>
            <a:gdLst/>
            <a:ahLst/>
            <a:cxnLst/>
            <a:rect l="l" t="t" r="r" b="b"/>
            <a:pathLst>
              <a:path w="4233009" h="2053009">
                <a:moveTo>
                  <a:pt x="0" y="0"/>
                </a:moveTo>
                <a:lnTo>
                  <a:pt x="4233009" y="0"/>
                </a:lnTo>
                <a:lnTo>
                  <a:pt x="4233009" y="2053010"/>
                </a:lnTo>
                <a:lnTo>
                  <a:pt x="0" y="20530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7" name="TextBox 7"/>
          <p:cNvSpPr txBox="1"/>
          <p:nvPr/>
        </p:nvSpPr>
        <p:spPr>
          <a:xfrm>
            <a:off x="1587904" y="1146281"/>
            <a:ext cx="12658999" cy="915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Example 1 - Floating-Point Numbers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3860904" y="3675117"/>
            <a:ext cx="3453904" cy="1146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Python float result</a:t>
            </a:r>
          </a:p>
          <a:p>
            <a:pPr algn="ctr">
              <a:lnSpc>
                <a:spcPts val="4340"/>
              </a:lnSpc>
            </a:pPr>
            <a:r>
              <a:rPr lang="en-US" sz="310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300.29999999999995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0268350" y="6096672"/>
            <a:ext cx="6615465" cy="119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Key Idea: float values are approximate.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776578" y="4277245"/>
            <a:ext cx="4995821" cy="425712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balance = 100.10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balance += 100.10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balance += 100.10</a:t>
            </a:r>
          </a:p>
          <a:p>
            <a:pPr algn="ctr">
              <a:lnSpc>
                <a:spcPts val="4759"/>
              </a:lnSpc>
            </a:pPr>
            <a:endParaRPr lang="en-US" sz="33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print("Balance =", balance)</a:t>
            </a:r>
          </a:p>
          <a:p>
            <a:pPr algn="ctr">
              <a:lnSpc>
                <a:spcPts val="4759"/>
              </a:lnSpc>
            </a:pPr>
            <a:endParaRPr lang="en-US" sz="33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759"/>
              </a:lnSpc>
            </a:pPr>
            <a:endParaRPr lang="en-US" sz="33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1" name="Freeform 11"/>
          <p:cNvSpPr/>
          <p:nvPr/>
        </p:nvSpPr>
        <p:spPr>
          <a:xfrm>
            <a:off x="9143888" y="3336465"/>
            <a:ext cx="4233009" cy="2053009"/>
          </a:xfrm>
          <a:custGeom>
            <a:avLst/>
            <a:gdLst/>
            <a:ahLst/>
            <a:cxnLst/>
            <a:rect l="l" t="t" r="r" b="b"/>
            <a:pathLst>
              <a:path w="4233009" h="2053009">
                <a:moveTo>
                  <a:pt x="0" y="0"/>
                </a:moveTo>
                <a:lnTo>
                  <a:pt x="4233009" y="0"/>
                </a:lnTo>
                <a:lnTo>
                  <a:pt x="4233009" y="2053010"/>
                </a:lnTo>
                <a:lnTo>
                  <a:pt x="0" y="205301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TextBox 12"/>
          <p:cNvSpPr txBox="1"/>
          <p:nvPr/>
        </p:nvSpPr>
        <p:spPr>
          <a:xfrm>
            <a:off x="10346572" y="3675117"/>
            <a:ext cx="2074028" cy="119951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Expected?</a:t>
            </a:r>
          </a:p>
          <a:p>
            <a:pPr algn="ctr">
              <a:lnSpc>
                <a:spcPts val="4759"/>
              </a:lnSpc>
            </a:pPr>
            <a:r>
              <a:rPr lang="en-US" sz="33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300.30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829269" y="904875"/>
            <a:ext cx="7589604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Use round() for Display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513898" y="7844392"/>
            <a:ext cx="7154441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means: round to 2 decimal places.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789094" y="3143868"/>
            <a:ext cx="7629779" cy="4151755"/>
            <a:chOff x="0" y="0"/>
            <a:chExt cx="2009489" cy="1093466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009489" cy="1093466"/>
            </a:xfrm>
            <a:custGeom>
              <a:avLst/>
              <a:gdLst/>
              <a:ahLst/>
              <a:cxnLst/>
              <a:rect l="l" t="t" r="r" b="b"/>
              <a:pathLst>
                <a:path w="2009489" h="1093466">
                  <a:moveTo>
                    <a:pt x="51750" y="0"/>
                  </a:moveTo>
                  <a:lnTo>
                    <a:pt x="1957740" y="0"/>
                  </a:lnTo>
                  <a:cubicBezTo>
                    <a:pt x="1971464" y="0"/>
                    <a:pt x="1984627" y="5452"/>
                    <a:pt x="1994332" y="15157"/>
                  </a:cubicBezTo>
                  <a:cubicBezTo>
                    <a:pt x="2004037" y="24862"/>
                    <a:pt x="2009489" y="38025"/>
                    <a:pt x="2009489" y="51750"/>
                  </a:cubicBezTo>
                  <a:lnTo>
                    <a:pt x="2009489" y="1041717"/>
                  </a:lnTo>
                  <a:cubicBezTo>
                    <a:pt x="2009489" y="1055442"/>
                    <a:pt x="2004037" y="1068604"/>
                    <a:pt x="1994332" y="1078309"/>
                  </a:cubicBezTo>
                  <a:cubicBezTo>
                    <a:pt x="1984627" y="1088014"/>
                    <a:pt x="1971464" y="1093466"/>
                    <a:pt x="1957740" y="1093466"/>
                  </a:cubicBezTo>
                  <a:lnTo>
                    <a:pt x="51750" y="1093466"/>
                  </a:lnTo>
                  <a:cubicBezTo>
                    <a:pt x="38025" y="1093466"/>
                    <a:pt x="24862" y="1088014"/>
                    <a:pt x="15157" y="1078309"/>
                  </a:cubicBezTo>
                  <a:cubicBezTo>
                    <a:pt x="5452" y="1068604"/>
                    <a:pt x="0" y="1055442"/>
                    <a:pt x="0" y="1041717"/>
                  </a:cubicBezTo>
                  <a:lnTo>
                    <a:pt x="0" y="51750"/>
                  </a:lnTo>
                  <a:cubicBezTo>
                    <a:pt x="0" y="38025"/>
                    <a:pt x="5452" y="24862"/>
                    <a:pt x="15157" y="15157"/>
                  </a:cubicBezTo>
                  <a:cubicBezTo>
                    <a:pt x="24862" y="5452"/>
                    <a:pt x="38025" y="0"/>
                    <a:pt x="51750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57150"/>
              <a:ext cx="2009489" cy="115061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7" name="TextBox 7"/>
          <p:cNvSpPr txBox="1"/>
          <p:nvPr/>
        </p:nvSpPr>
        <p:spPr>
          <a:xfrm>
            <a:off x="1901997" y="4136707"/>
            <a:ext cx="7242003" cy="19183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rounded_balance</a:t>
            </a: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= round(balance, 2)</a:t>
            </a:r>
          </a:p>
          <a:p>
            <a:pPr algn="ctr">
              <a:lnSpc>
                <a:spcPts val="5039"/>
              </a:lnSpc>
            </a:pP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print("Rounded Balance =", </a:t>
            </a:r>
            <a:r>
              <a:rPr lang="en-US" sz="35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rounded_balance</a:t>
            </a:r>
            <a:r>
              <a:rPr lang="en-US" sz="35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)</a:t>
            </a:r>
          </a:p>
        </p:txBody>
      </p:sp>
      <p:sp>
        <p:nvSpPr>
          <p:cNvPr id="8" name="Freeform 8"/>
          <p:cNvSpPr/>
          <p:nvPr/>
        </p:nvSpPr>
        <p:spPr>
          <a:xfrm>
            <a:off x="9644033" y="4679453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5"/>
                </a:lnTo>
                <a:lnTo>
                  <a:pt x="0" y="19288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Freeform 9"/>
          <p:cNvSpPr/>
          <p:nvPr/>
        </p:nvSpPr>
        <p:spPr>
          <a:xfrm>
            <a:off x="9644033" y="2436322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6"/>
                </a:lnTo>
                <a:lnTo>
                  <a:pt x="0" y="1928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0" name="TextBox 10"/>
          <p:cNvSpPr txBox="1"/>
          <p:nvPr/>
        </p:nvSpPr>
        <p:spPr>
          <a:xfrm>
            <a:off x="11387391" y="5293522"/>
            <a:ext cx="432743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↓round(balance, 2)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87391" y="3058143"/>
            <a:ext cx="4538409" cy="576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300.29999999999995</a:t>
            </a:r>
          </a:p>
        </p:txBody>
      </p:sp>
      <p:sp>
        <p:nvSpPr>
          <p:cNvPr id="12" name="Freeform 12"/>
          <p:cNvSpPr/>
          <p:nvPr/>
        </p:nvSpPr>
        <p:spPr>
          <a:xfrm>
            <a:off x="9644033" y="6923590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6"/>
                </a:lnTo>
                <a:lnTo>
                  <a:pt x="0" y="1928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3" name="TextBox 13"/>
          <p:cNvSpPr txBox="1"/>
          <p:nvPr/>
        </p:nvSpPr>
        <p:spPr>
          <a:xfrm>
            <a:off x="11629896" y="7520569"/>
            <a:ext cx="3301703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300.3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513898" y="904875"/>
            <a:ext cx="9535102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Example 2 - The math Module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238703" y="3143868"/>
            <a:ext cx="8180170" cy="5327591"/>
            <a:chOff x="0" y="0"/>
            <a:chExt cx="2154448" cy="140315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154448" cy="1403151"/>
            </a:xfrm>
            <a:custGeom>
              <a:avLst/>
              <a:gdLst/>
              <a:ahLst/>
              <a:cxnLst/>
              <a:rect l="l" t="t" r="r" b="b"/>
              <a:pathLst>
                <a:path w="2154448" h="1403151">
                  <a:moveTo>
                    <a:pt x="48268" y="0"/>
                  </a:moveTo>
                  <a:lnTo>
                    <a:pt x="2106181" y="0"/>
                  </a:lnTo>
                  <a:cubicBezTo>
                    <a:pt x="2132838" y="0"/>
                    <a:pt x="2154448" y="21610"/>
                    <a:pt x="2154448" y="48268"/>
                  </a:cubicBezTo>
                  <a:lnTo>
                    <a:pt x="2154448" y="1354884"/>
                  </a:lnTo>
                  <a:cubicBezTo>
                    <a:pt x="2154448" y="1367685"/>
                    <a:pt x="2149363" y="1379962"/>
                    <a:pt x="2140311" y="1389014"/>
                  </a:cubicBezTo>
                  <a:cubicBezTo>
                    <a:pt x="2131259" y="1398066"/>
                    <a:pt x="2118982" y="1403151"/>
                    <a:pt x="2106181" y="1403151"/>
                  </a:cubicBezTo>
                  <a:lnTo>
                    <a:pt x="48268" y="1403151"/>
                  </a:lnTo>
                  <a:cubicBezTo>
                    <a:pt x="35466" y="1403151"/>
                    <a:pt x="23189" y="1398066"/>
                    <a:pt x="14137" y="1389014"/>
                  </a:cubicBezTo>
                  <a:cubicBezTo>
                    <a:pt x="5085" y="1379962"/>
                    <a:pt x="0" y="1367685"/>
                    <a:pt x="0" y="1354884"/>
                  </a:cubicBezTo>
                  <a:lnTo>
                    <a:pt x="0" y="48268"/>
                  </a:lnTo>
                  <a:cubicBezTo>
                    <a:pt x="0" y="21610"/>
                    <a:pt x="21610" y="0"/>
                    <a:pt x="48268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154448" cy="14603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07786" y="3843608"/>
            <a:ext cx="7242003" cy="38328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import math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math.sqrt(25)   # 5.0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math.ceil(4.2)   # 5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math.floor(4.8)  # 4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math.pi             # 3.14159....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800338" y="3371239"/>
            <a:ext cx="4754761" cy="29603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79"/>
              </a:lnSpc>
            </a:pPr>
            <a:r>
              <a:rPr lang="en-US" sz="41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sqrt() → square root</a:t>
            </a:r>
          </a:p>
          <a:p>
            <a:pPr algn="l">
              <a:lnSpc>
                <a:spcPts val="5879"/>
              </a:lnSpc>
            </a:pPr>
            <a:r>
              <a:rPr lang="en-US" sz="41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ceil() → round up</a:t>
            </a:r>
          </a:p>
          <a:p>
            <a:pPr algn="l">
              <a:lnSpc>
                <a:spcPts val="5879"/>
              </a:lnSpc>
            </a:pPr>
            <a:r>
              <a:rPr lang="en-US" sz="41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floor() → round down</a:t>
            </a:r>
          </a:p>
          <a:p>
            <a:pPr algn="l">
              <a:lnSpc>
                <a:spcPts val="5879"/>
              </a:lnSpc>
            </a:pPr>
            <a:r>
              <a:rPr lang="en-US" sz="41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pi → value of π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776263" y="704733"/>
            <a:ext cx="13331830" cy="915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Example  3 - Format Numbers with  f-Strings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789094" y="3143868"/>
            <a:ext cx="7629779" cy="5327591"/>
            <a:chOff x="0" y="0"/>
            <a:chExt cx="2009489" cy="140315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009489" cy="1403151"/>
            </a:xfrm>
            <a:custGeom>
              <a:avLst/>
              <a:gdLst/>
              <a:ahLst/>
              <a:cxnLst/>
              <a:rect l="l" t="t" r="r" b="b"/>
              <a:pathLst>
                <a:path w="2009489" h="1403151">
                  <a:moveTo>
                    <a:pt x="51750" y="0"/>
                  </a:moveTo>
                  <a:lnTo>
                    <a:pt x="1957740" y="0"/>
                  </a:lnTo>
                  <a:cubicBezTo>
                    <a:pt x="1971464" y="0"/>
                    <a:pt x="1984627" y="5452"/>
                    <a:pt x="1994332" y="15157"/>
                  </a:cubicBezTo>
                  <a:cubicBezTo>
                    <a:pt x="2004037" y="24862"/>
                    <a:pt x="2009489" y="38025"/>
                    <a:pt x="2009489" y="51750"/>
                  </a:cubicBezTo>
                  <a:lnTo>
                    <a:pt x="2009489" y="1351402"/>
                  </a:lnTo>
                  <a:cubicBezTo>
                    <a:pt x="2009489" y="1365127"/>
                    <a:pt x="2004037" y="1378289"/>
                    <a:pt x="1994332" y="1387994"/>
                  </a:cubicBezTo>
                  <a:cubicBezTo>
                    <a:pt x="1984627" y="1397699"/>
                    <a:pt x="1971464" y="1403151"/>
                    <a:pt x="1957740" y="1403151"/>
                  </a:cubicBezTo>
                  <a:lnTo>
                    <a:pt x="51750" y="1403151"/>
                  </a:lnTo>
                  <a:cubicBezTo>
                    <a:pt x="38025" y="1403151"/>
                    <a:pt x="24862" y="1397699"/>
                    <a:pt x="15157" y="1387994"/>
                  </a:cubicBezTo>
                  <a:cubicBezTo>
                    <a:pt x="5452" y="1378289"/>
                    <a:pt x="0" y="1365127"/>
                    <a:pt x="0" y="1351402"/>
                  </a:cubicBezTo>
                  <a:lnTo>
                    <a:pt x="0" y="51750"/>
                  </a:lnTo>
                  <a:cubicBezTo>
                    <a:pt x="0" y="38025"/>
                    <a:pt x="5452" y="24862"/>
                    <a:pt x="15157" y="15157"/>
                  </a:cubicBezTo>
                  <a:cubicBezTo>
                    <a:pt x="24862" y="5452"/>
                    <a:pt x="38025" y="0"/>
                    <a:pt x="51750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009489" cy="14603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901997" y="3665484"/>
            <a:ext cx="7242003" cy="44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price  = 12345.678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rate  = 0.075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print(f"{price:.2f}")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print(f"{price:,.2f}")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print(f"{rate:.1%}")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7" name="Freeform 7"/>
          <p:cNvSpPr/>
          <p:nvPr/>
        </p:nvSpPr>
        <p:spPr>
          <a:xfrm>
            <a:off x="9644033" y="4679453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5"/>
                </a:lnTo>
                <a:lnTo>
                  <a:pt x="0" y="19288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8"/>
          <p:cNvSpPr/>
          <p:nvPr/>
        </p:nvSpPr>
        <p:spPr>
          <a:xfrm>
            <a:off x="9644033" y="2436322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6"/>
                </a:lnTo>
                <a:lnTo>
                  <a:pt x="0" y="1928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TextBox 9"/>
          <p:cNvSpPr txBox="1"/>
          <p:nvPr/>
        </p:nvSpPr>
        <p:spPr>
          <a:xfrm>
            <a:off x="11387391" y="5293522"/>
            <a:ext cx="4327432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,.2f → 12345.68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868949" y="3058143"/>
            <a:ext cx="2925763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.2f → 12345.68 </a:t>
            </a:r>
          </a:p>
        </p:txBody>
      </p:sp>
      <p:sp>
        <p:nvSpPr>
          <p:cNvPr id="11" name="Freeform 11"/>
          <p:cNvSpPr/>
          <p:nvPr/>
        </p:nvSpPr>
        <p:spPr>
          <a:xfrm>
            <a:off x="9644033" y="6923590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6"/>
                </a:lnTo>
                <a:lnTo>
                  <a:pt x="0" y="1928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12" name="TextBox 12"/>
          <p:cNvSpPr txBox="1"/>
          <p:nvPr/>
        </p:nvSpPr>
        <p:spPr>
          <a:xfrm>
            <a:off x="11629896" y="7520569"/>
            <a:ext cx="3301703" cy="6159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.1% → 7.5%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76476" y="679715"/>
            <a:ext cx="13331830" cy="915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Example  4 - Decimal for Exact Decimal Values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47675" y="2546102"/>
            <a:ext cx="8950647" cy="5925356"/>
            <a:chOff x="0" y="0"/>
            <a:chExt cx="2357372" cy="156058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57372" cy="1560588"/>
            </a:xfrm>
            <a:custGeom>
              <a:avLst/>
              <a:gdLst/>
              <a:ahLst/>
              <a:cxnLst/>
              <a:rect l="l" t="t" r="r" b="b"/>
              <a:pathLst>
                <a:path w="2357372" h="1560588">
                  <a:moveTo>
                    <a:pt x="44113" y="0"/>
                  </a:moveTo>
                  <a:lnTo>
                    <a:pt x="2313259" y="0"/>
                  </a:lnTo>
                  <a:cubicBezTo>
                    <a:pt x="2324959" y="0"/>
                    <a:pt x="2336179" y="4648"/>
                    <a:pt x="2344452" y="12920"/>
                  </a:cubicBezTo>
                  <a:cubicBezTo>
                    <a:pt x="2352725" y="21193"/>
                    <a:pt x="2357372" y="32413"/>
                    <a:pt x="2357372" y="44113"/>
                  </a:cubicBezTo>
                  <a:lnTo>
                    <a:pt x="2357372" y="1516475"/>
                  </a:lnTo>
                  <a:cubicBezTo>
                    <a:pt x="2357372" y="1540838"/>
                    <a:pt x="2337622" y="1560588"/>
                    <a:pt x="2313259" y="1560588"/>
                  </a:cubicBezTo>
                  <a:lnTo>
                    <a:pt x="44113" y="1560588"/>
                  </a:lnTo>
                  <a:cubicBezTo>
                    <a:pt x="19750" y="1560588"/>
                    <a:pt x="0" y="1540838"/>
                    <a:pt x="0" y="1516475"/>
                  </a:cubicBezTo>
                  <a:lnTo>
                    <a:pt x="0" y="44113"/>
                  </a:lnTo>
                  <a:cubicBezTo>
                    <a:pt x="0" y="19750"/>
                    <a:pt x="19750" y="0"/>
                    <a:pt x="4411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357372" cy="161773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614292" y="3158397"/>
            <a:ext cx="7817413" cy="44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from decimal import Decinmal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decimal_balance = Decimal("100.10")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decimal_balance += Decimal("100.10")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decimal_balance += Decimal("100.10")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print(decimal_balance)</a:t>
            </a:r>
          </a:p>
        </p:txBody>
      </p:sp>
      <p:sp>
        <p:nvSpPr>
          <p:cNvPr id="7" name="Freeform 7"/>
          <p:cNvSpPr/>
          <p:nvPr/>
        </p:nvSpPr>
        <p:spPr>
          <a:xfrm>
            <a:off x="10245462" y="4789232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6"/>
                </a:lnTo>
                <a:lnTo>
                  <a:pt x="0" y="1928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8"/>
          <p:cNvSpPr/>
          <p:nvPr/>
        </p:nvSpPr>
        <p:spPr>
          <a:xfrm>
            <a:off x="10245462" y="2546102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5"/>
                </a:lnTo>
                <a:lnTo>
                  <a:pt x="0" y="19288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TextBox 9"/>
          <p:cNvSpPr txBox="1"/>
          <p:nvPr/>
        </p:nvSpPr>
        <p:spPr>
          <a:xfrm>
            <a:off x="11588665" y="5057775"/>
            <a:ext cx="4327432" cy="123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300.30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52378" y="2850104"/>
            <a:ext cx="4249621" cy="12350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float</a:t>
            </a:r>
          </a:p>
          <a:p>
            <a:pPr algn="ctr">
              <a:lnSpc>
                <a:spcPts val="4899"/>
              </a:lnSpc>
            </a:pPr>
            <a:r>
              <a:rPr lang="en-US" sz="3499" dirty="0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300.29999999999995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0612971" y="7013482"/>
            <a:ext cx="6646329" cy="123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Create Decimal values from strings: Decimal("100.10")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76476" y="679715"/>
            <a:ext cx="13331830" cy="915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Example  5 - quantize() + ROUND_HALF_UP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47675" y="2546102"/>
            <a:ext cx="8950647" cy="6712198"/>
            <a:chOff x="0" y="0"/>
            <a:chExt cx="2357372" cy="17678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57372" cy="1767822"/>
            </a:xfrm>
            <a:custGeom>
              <a:avLst/>
              <a:gdLst/>
              <a:ahLst/>
              <a:cxnLst/>
              <a:rect l="l" t="t" r="r" b="b"/>
              <a:pathLst>
                <a:path w="2357372" h="1767822">
                  <a:moveTo>
                    <a:pt x="44113" y="0"/>
                  </a:moveTo>
                  <a:lnTo>
                    <a:pt x="2313259" y="0"/>
                  </a:lnTo>
                  <a:cubicBezTo>
                    <a:pt x="2324959" y="0"/>
                    <a:pt x="2336179" y="4648"/>
                    <a:pt x="2344452" y="12920"/>
                  </a:cubicBezTo>
                  <a:cubicBezTo>
                    <a:pt x="2352725" y="21193"/>
                    <a:pt x="2357372" y="32413"/>
                    <a:pt x="2357372" y="44113"/>
                  </a:cubicBezTo>
                  <a:lnTo>
                    <a:pt x="2357372" y="1723709"/>
                  </a:lnTo>
                  <a:cubicBezTo>
                    <a:pt x="2357372" y="1748072"/>
                    <a:pt x="2337622" y="1767822"/>
                    <a:pt x="2313259" y="1767822"/>
                  </a:cubicBezTo>
                  <a:lnTo>
                    <a:pt x="44113" y="1767822"/>
                  </a:lnTo>
                  <a:cubicBezTo>
                    <a:pt x="32413" y="1767822"/>
                    <a:pt x="21193" y="1763174"/>
                    <a:pt x="12920" y="1754901"/>
                  </a:cubicBezTo>
                  <a:cubicBezTo>
                    <a:pt x="4648" y="1746629"/>
                    <a:pt x="0" y="1735408"/>
                    <a:pt x="0" y="1723709"/>
                  </a:cubicBezTo>
                  <a:lnTo>
                    <a:pt x="0" y="44113"/>
                  </a:lnTo>
                  <a:cubicBezTo>
                    <a:pt x="0" y="19750"/>
                    <a:pt x="19750" y="0"/>
                    <a:pt x="4411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357372" cy="18249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614292" y="3158397"/>
            <a:ext cx="7817413" cy="44710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from decimal import Decinmal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decimal_balance = Decimal("100.10")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decimal_balance += Decimal("100.10")</a:t>
            </a: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decimal_balance += Decimal("100.10")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print(decimal_balance)</a:t>
            </a:r>
          </a:p>
        </p:txBody>
      </p:sp>
      <p:sp>
        <p:nvSpPr>
          <p:cNvPr id="7" name="Freeform 7"/>
          <p:cNvSpPr/>
          <p:nvPr/>
        </p:nvSpPr>
        <p:spPr>
          <a:xfrm>
            <a:off x="10245462" y="5496777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6"/>
                </a:lnTo>
                <a:lnTo>
                  <a:pt x="0" y="192880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Freeform 8"/>
          <p:cNvSpPr/>
          <p:nvPr/>
        </p:nvSpPr>
        <p:spPr>
          <a:xfrm>
            <a:off x="10245462" y="3253647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5"/>
                </a:lnTo>
                <a:lnTo>
                  <a:pt x="0" y="19288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9" name="TextBox 9"/>
          <p:cNvSpPr txBox="1"/>
          <p:nvPr/>
        </p:nvSpPr>
        <p:spPr>
          <a:xfrm>
            <a:off x="11588665" y="5765320"/>
            <a:ext cx="4327432" cy="123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ROUND_HALF_UP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10.005 → 10.01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463206" y="3557650"/>
            <a:ext cx="4578350" cy="123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Decimal("1.00")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→ keep 2 decimal places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690935" y="1074977"/>
            <a:ext cx="6691065" cy="8583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Your Turn - Practice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2239414" y="5602347"/>
            <a:ext cx="11732696" cy="23996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Change the amount and observe the floating-point result.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Try a different number with math.sqrt().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Change the sales value and keep comma + 2 decimal places.</a:t>
            </a:r>
          </a:p>
          <a:p>
            <a:pPr algn="l">
              <a:lnSpc>
                <a:spcPts val="4759"/>
              </a:lnSpc>
            </a:pPr>
            <a:r>
              <a:rPr lang="en-US" sz="33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Change the Decimal price and quantity, then calculate total.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1403855" y="2683679"/>
            <a:ext cx="15230111" cy="2309068"/>
            <a:chOff x="0" y="0"/>
            <a:chExt cx="4011223" cy="60815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4011223" cy="608150"/>
            </a:xfrm>
            <a:custGeom>
              <a:avLst/>
              <a:gdLst/>
              <a:ahLst/>
              <a:cxnLst/>
              <a:rect l="l" t="t" r="r" b="b"/>
              <a:pathLst>
                <a:path w="4011223" h="608150">
                  <a:moveTo>
                    <a:pt x="25925" y="0"/>
                  </a:moveTo>
                  <a:lnTo>
                    <a:pt x="3985298" y="0"/>
                  </a:lnTo>
                  <a:cubicBezTo>
                    <a:pt x="3999616" y="0"/>
                    <a:pt x="4011223" y="11607"/>
                    <a:pt x="4011223" y="25925"/>
                  </a:cubicBezTo>
                  <a:lnTo>
                    <a:pt x="4011223" y="582225"/>
                  </a:lnTo>
                  <a:cubicBezTo>
                    <a:pt x="4011223" y="596543"/>
                    <a:pt x="3999616" y="608150"/>
                    <a:pt x="3985298" y="608150"/>
                  </a:cubicBezTo>
                  <a:lnTo>
                    <a:pt x="25925" y="608150"/>
                  </a:lnTo>
                  <a:cubicBezTo>
                    <a:pt x="11607" y="608150"/>
                    <a:pt x="0" y="596543"/>
                    <a:pt x="0" y="582225"/>
                  </a:cubicBezTo>
                  <a:lnTo>
                    <a:pt x="0" y="25925"/>
                  </a:lnTo>
                  <a:cubicBezTo>
                    <a:pt x="0" y="11607"/>
                    <a:pt x="11607" y="0"/>
                    <a:pt x="25925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6" name="TextBox 6"/>
            <p:cNvSpPr txBox="1"/>
            <p:nvPr/>
          </p:nvSpPr>
          <p:spPr>
            <a:xfrm>
              <a:off x="0" y="-123825"/>
              <a:ext cx="4011223" cy="731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6719"/>
                </a:lnSpc>
                <a:spcBef>
                  <a:spcPct val="0"/>
                </a:spcBef>
              </a:pPr>
              <a:r>
                <a:rPr lang="en-US" sz="4799" u="sng">
                  <a:solidFill>
                    <a:srgbClr val="FFFFFF"/>
                  </a:solidFill>
                  <a:latin typeface="Times New Roman"/>
                  <a:ea typeface="Times New Roman"/>
                  <a:cs typeface="Times New Roman"/>
                  <a:sym typeface="Times New Roman"/>
                  <a:hlinkClick r:id="rId2" tooltip="https://github.com/Wendy-Chen56/murachs_python_section_2/blob/main/code/chapter09/practice_ch09.py"/>
                </a:rPr>
                <a:t>practice_ch09.py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2076476" y="679715"/>
            <a:ext cx="13331830" cy="9156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7279"/>
              </a:lnSpc>
            </a:pPr>
            <a:r>
              <a:rPr lang="en-US" sz="5199" b="1">
                <a:solidFill>
                  <a:srgbClr val="000B3D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Finish with Git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47675" y="2546102"/>
            <a:ext cx="8950647" cy="6712198"/>
            <a:chOff x="0" y="0"/>
            <a:chExt cx="2357372" cy="176782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357372" cy="1767822"/>
            </a:xfrm>
            <a:custGeom>
              <a:avLst/>
              <a:gdLst/>
              <a:ahLst/>
              <a:cxnLst/>
              <a:rect l="l" t="t" r="r" b="b"/>
              <a:pathLst>
                <a:path w="2357372" h="1767822">
                  <a:moveTo>
                    <a:pt x="44113" y="0"/>
                  </a:moveTo>
                  <a:lnTo>
                    <a:pt x="2313259" y="0"/>
                  </a:lnTo>
                  <a:cubicBezTo>
                    <a:pt x="2324959" y="0"/>
                    <a:pt x="2336179" y="4648"/>
                    <a:pt x="2344452" y="12920"/>
                  </a:cubicBezTo>
                  <a:cubicBezTo>
                    <a:pt x="2352725" y="21193"/>
                    <a:pt x="2357372" y="32413"/>
                    <a:pt x="2357372" y="44113"/>
                  </a:cubicBezTo>
                  <a:lnTo>
                    <a:pt x="2357372" y="1723709"/>
                  </a:lnTo>
                  <a:cubicBezTo>
                    <a:pt x="2357372" y="1748072"/>
                    <a:pt x="2337622" y="1767822"/>
                    <a:pt x="2313259" y="1767822"/>
                  </a:cubicBezTo>
                  <a:lnTo>
                    <a:pt x="44113" y="1767822"/>
                  </a:lnTo>
                  <a:cubicBezTo>
                    <a:pt x="32413" y="1767822"/>
                    <a:pt x="21193" y="1763174"/>
                    <a:pt x="12920" y="1754901"/>
                  </a:cubicBezTo>
                  <a:cubicBezTo>
                    <a:pt x="4648" y="1746629"/>
                    <a:pt x="0" y="1735408"/>
                    <a:pt x="0" y="1723709"/>
                  </a:cubicBezTo>
                  <a:lnTo>
                    <a:pt x="0" y="44113"/>
                  </a:lnTo>
                  <a:cubicBezTo>
                    <a:pt x="0" y="19750"/>
                    <a:pt x="19750" y="0"/>
                    <a:pt x="44113" y="0"/>
                  </a:cubicBezTo>
                  <a:close/>
                </a:path>
              </a:pathLst>
            </a:custGeom>
            <a:solidFill>
              <a:srgbClr val="000B3D"/>
            </a:solidFill>
          </p:spPr>
          <p:txBody>
            <a:bodyPr/>
            <a:lstStyle/>
            <a:p>
              <a:endParaRPr lang="zh-TW" alt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57150"/>
              <a:ext cx="2357372" cy="18249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439168" y="3299971"/>
            <a:ext cx="8167661" cy="51092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status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add .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commit -m "Complete Chapter 9 practice"</a:t>
            </a:r>
          </a:p>
          <a:p>
            <a:pPr algn="ctr">
              <a:lnSpc>
                <a:spcPts val="5039"/>
              </a:lnSpc>
            </a:pPr>
            <a:endParaRPr lang="en-US" sz="35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5039"/>
              </a:lnSpc>
            </a:pPr>
            <a:r>
              <a:rPr lang="en-US" sz="35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git push</a:t>
            </a:r>
          </a:p>
        </p:txBody>
      </p:sp>
      <p:sp>
        <p:nvSpPr>
          <p:cNvPr id="7" name="Freeform 7"/>
          <p:cNvSpPr/>
          <p:nvPr/>
        </p:nvSpPr>
        <p:spPr>
          <a:xfrm>
            <a:off x="10245462" y="6505959"/>
            <a:ext cx="7013838" cy="1928806"/>
          </a:xfrm>
          <a:custGeom>
            <a:avLst/>
            <a:gdLst/>
            <a:ahLst/>
            <a:cxnLst/>
            <a:rect l="l" t="t" r="r" b="b"/>
            <a:pathLst>
              <a:path w="7013838" h="1928806">
                <a:moveTo>
                  <a:pt x="0" y="0"/>
                </a:moveTo>
                <a:lnTo>
                  <a:pt x="7013838" y="0"/>
                </a:lnTo>
                <a:lnTo>
                  <a:pt x="7013838" y="1928805"/>
                </a:lnTo>
                <a:lnTo>
                  <a:pt x="0" y="192880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zh-TW" altLang="en-US"/>
          </a:p>
        </p:txBody>
      </p:sp>
      <p:sp>
        <p:nvSpPr>
          <p:cNvPr id="8" name="TextBox 8"/>
          <p:cNvSpPr txBox="1"/>
          <p:nvPr/>
        </p:nvSpPr>
        <p:spPr>
          <a:xfrm>
            <a:off x="11463206" y="6809962"/>
            <a:ext cx="4578350" cy="1235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Decimal("1.00")</a:t>
            </a:r>
          </a:p>
          <a:p>
            <a:pPr algn="ctr">
              <a:lnSpc>
                <a:spcPts val="4899"/>
              </a:lnSpc>
            </a:pPr>
            <a:r>
              <a:rPr lang="en-US" sz="3499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→ keep 2 decimal places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115157" y="3190602"/>
            <a:ext cx="5274448" cy="27115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369"/>
              </a:lnSpc>
            </a:pPr>
            <a:r>
              <a:rPr lang="en-US" sz="3835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status → see what changed</a:t>
            </a:r>
          </a:p>
          <a:p>
            <a:pPr algn="l">
              <a:lnSpc>
                <a:spcPts val="5369"/>
              </a:lnSpc>
            </a:pPr>
            <a:r>
              <a:rPr lang="en-US" sz="3835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add → stage the changes</a:t>
            </a:r>
          </a:p>
          <a:p>
            <a:pPr algn="l">
              <a:lnSpc>
                <a:spcPts val="5369"/>
              </a:lnSpc>
            </a:pPr>
            <a:r>
              <a:rPr lang="en-US" sz="3835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commit → save a version</a:t>
            </a:r>
          </a:p>
          <a:p>
            <a:pPr algn="l">
              <a:lnSpc>
                <a:spcPts val="5369"/>
              </a:lnSpc>
            </a:pPr>
            <a:r>
              <a:rPr lang="en-US" sz="3835">
                <a:solidFill>
                  <a:srgbClr val="000B3D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push → send it to GitHub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510</Words>
  <Application>Microsoft Office PowerPoint</Application>
  <PresentationFormat>Custom</PresentationFormat>
  <Paragraphs>104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Calibri</vt:lpstr>
      <vt:lpstr>Times New Roman Bold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新增標題</dc:title>
  <cp:lastModifiedBy>盈慈 陳</cp:lastModifiedBy>
  <cp:revision>1</cp:revision>
  <dcterms:created xsi:type="dcterms:W3CDTF">2006-08-16T00:00:00Z</dcterms:created>
  <dcterms:modified xsi:type="dcterms:W3CDTF">2026-09-04T22:50:12Z</dcterms:modified>
  <dc:identifier>DAHURfh2geA</dc:identifier>
</cp:coreProperties>
</file>