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00" y="2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盈慈 陳" userId="47c6c481c66a08f8" providerId="LiveId" clId="{C8E897B1-1C11-4474-A106-AD9E28844469}"/>
    <pc:docChg chg="modSld">
      <pc:chgData name="盈慈 陳" userId="47c6c481c66a08f8" providerId="LiveId" clId="{C8E897B1-1C11-4474-A106-AD9E28844469}" dt="2026-09-04T22:50:04.638" v="9" actId="14100"/>
      <pc:docMkLst>
        <pc:docMk/>
      </pc:docMkLst>
      <pc:sldChg chg="modSp mod">
        <pc:chgData name="盈慈 陳" userId="47c6c481c66a08f8" providerId="LiveId" clId="{C8E897B1-1C11-4474-A106-AD9E28844469}" dt="2026-09-04T22:48:49.827" v="1" actId="14100"/>
        <pc:sldMkLst>
          <pc:docMk/>
          <pc:sldMk cId="0" sldId="256"/>
        </pc:sldMkLst>
        <pc:spChg chg="mod">
          <ac:chgData name="盈慈 陳" userId="47c6c481c66a08f8" providerId="LiveId" clId="{C8E897B1-1C11-4474-A106-AD9E28844469}" dt="2026-09-04T22:48:46.547" v="0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盈慈 陳" userId="47c6c481c66a08f8" providerId="LiveId" clId="{C8E897B1-1C11-4474-A106-AD9E28844469}" dt="2026-09-04T22:48:49.827" v="1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4T22:49:09.562" v="3" actId="14100"/>
        <pc:sldMkLst>
          <pc:docMk/>
          <pc:sldMk cId="0" sldId="259"/>
        </pc:sldMkLst>
        <pc:spChg chg="mod">
          <ac:chgData name="盈慈 陳" userId="47c6c481c66a08f8" providerId="LiveId" clId="{C8E897B1-1C11-4474-A106-AD9E28844469}" dt="2026-09-04T22:49:09.562" v="3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盈慈 陳" userId="47c6c481c66a08f8" providerId="LiveId" clId="{C8E897B1-1C11-4474-A106-AD9E28844469}" dt="2026-09-04T22:48:59.251" v="2" actId="14100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4T22:49:34.676" v="6" actId="14100"/>
        <pc:sldMkLst>
          <pc:docMk/>
          <pc:sldMk cId="0" sldId="260"/>
        </pc:sldMkLst>
        <pc:spChg chg="mod">
          <ac:chgData name="盈慈 陳" userId="47c6c481c66a08f8" providerId="LiveId" clId="{C8E897B1-1C11-4474-A106-AD9E28844469}" dt="2026-09-04T22:49:34.676" v="6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盈慈 陳" userId="47c6c481c66a08f8" providerId="LiveId" clId="{C8E897B1-1C11-4474-A106-AD9E28844469}" dt="2026-09-04T22:49:22.794" v="5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盈慈 陳" userId="47c6c481c66a08f8" providerId="LiveId" clId="{C8E897B1-1C11-4474-A106-AD9E28844469}" dt="2026-09-04T22:49:19.840" v="4" actId="14100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4T22:49:37.983" v="7" actId="14100"/>
        <pc:sldMkLst>
          <pc:docMk/>
          <pc:sldMk cId="0" sldId="261"/>
        </pc:sldMkLst>
        <pc:spChg chg="mod">
          <ac:chgData name="盈慈 陳" userId="47c6c481c66a08f8" providerId="LiveId" clId="{C8E897B1-1C11-4474-A106-AD9E28844469}" dt="2026-09-04T22:49:37.983" v="7" actId="14100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4T22:49:51.235" v="8" actId="14100"/>
        <pc:sldMkLst>
          <pc:docMk/>
          <pc:sldMk cId="0" sldId="263"/>
        </pc:sldMkLst>
        <pc:spChg chg="mod">
          <ac:chgData name="盈慈 陳" userId="47c6c481c66a08f8" providerId="LiveId" clId="{C8E897B1-1C11-4474-A106-AD9E28844469}" dt="2026-09-04T22:49:51.235" v="8" actId="14100"/>
          <ac:spMkLst>
            <pc:docMk/>
            <pc:sldMk cId="0" sldId="263"/>
            <ac:spMk id="10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4T22:50:04.638" v="9" actId="14100"/>
        <pc:sldMkLst>
          <pc:docMk/>
          <pc:sldMk cId="0" sldId="265"/>
        </pc:sldMkLst>
        <pc:spChg chg="mod">
          <ac:chgData name="盈慈 陳" userId="47c6c481c66a08f8" providerId="LiveId" clId="{C8E897B1-1C11-4474-A106-AD9E28844469}" dt="2026-09-04T22:50:04.638" v="9" actId="14100"/>
          <ac:spMkLst>
            <pc:docMk/>
            <pc:sldMk cId="0" sldId="265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endy-Chen56/murachs_python_section_2/blob/main/code/chapter09/practice_ch09.py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509370"/>
            <a:ext cx="11163300" cy="2239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62"/>
              </a:lnSpc>
            </a:pPr>
            <a:r>
              <a:rPr lang="en-US" sz="633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Chapter 9</a:t>
            </a:r>
          </a:p>
          <a:p>
            <a:pPr algn="l">
              <a:lnSpc>
                <a:spcPts val="8862"/>
              </a:lnSpc>
            </a:pPr>
            <a:r>
              <a:rPr lang="en-US" sz="633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to Work with Numbers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147610"/>
            <a:ext cx="66675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Murach’s Python Programming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410317"/>
            <a:ext cx="4119761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IDEL + GIT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10839" y="2974975"/>
            <a:ext cx="11834862" cy="4733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4" lvl="1" indent="-485772" algn="l">
              <a:lnSpc>
                <a:spcPts val="6299"/>
              </a:lnSpc>
              <a:buAutoNum type="arabicPeriod"/>
            </a:pPr>
            <a:r>
              <a:rPr lang="en-US" sz="4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the repository and Charter 9 files</a:t>
            </a:r>
          </a:p>
          <a:p>
            <a:pPr marL="971544" lvl="1" indent="-485772" algn="l">
              <a:lnSpc>
                <a:spcPts val="6299"/>
              </a:lnSpc>
              <a:buAutoNum type="arabicPeriod"/>
            </a:pPr>
            <a:r>
              <a:rPr lang="en-US" sz="4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the examples in IDLE</a:t>
            </a:r>
          </a:p>
          <a:p>
            <a:pPr marL="971544" lvl="1" indent="-485772" algn="l">
              <a:lnSpc>
                <a:spcPts val="6299"/>
              </a:lnSpc>
              <a:buAutoNum type="arabicPeriod"/>
            </a:pPr>
            <a:r>
              <a:rPr lang="en-US" sz="4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Observe floating-point behavior and rounding</a:t>
            </a:r>
          </a:p>
          <a:p>
            <a:pPr marL="971544" lvl="1" indent="-485772" algn="l">
              <a:lnSpc>
                <a:spcPts val="6299"/>
              </a:lnSpc>
              <a:buAutoNum type="arabicPeriod"/>
            </a:pPr>
            <a:r>
              <a:rPr lang="en-US" sz="4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math, f-strings, and Decimal</a:t>
            </a:r>
          </a:p>
          <a:p>
            <a:pPr marL="971544" lvl="1" indent="-485772" algn="l">
              <a:lnSpc>
                <a:spcPts val="6299"/>
              </a:lnSpc>
              <a:buAutoNum type="arabicPeriod"/>
            </a:pPr>
            <a:r>
              <a:rPr lang="en-US" sz="4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</a:t>
            </a:r>
          </a:p>
          <a:p>
            <a:pPr marL="971544" lvl="1" indent="-485772" algn="l">
              <a:lnSpc>
                <a:spcPts val="6299"/>
              </a:lnSpc>
              <a:buAutoNum type="arabicPeriod"/>
            </a:pPr>
            <a:r>
              <a:rPr lang="en-US" sz="4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your change with Git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54571" y="1205088"/>
            <a:ext cx="5279231" cy="91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Today’s 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29554" y="3634113"/>
            <a:ext cx="6488519" cy="4787309"/>
            <a:chOff x="0" y="0"/>
            <a:chExt cx="1708910" cy="12608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08910" cy="1260855"/>
            </a:xfrm>
            <a:custGeom>
              <a:avLst/>
              <a:gdLst/>
              <a:ahLst/>
              <a:cxnLst/>
              <a:rect l="l" t="t" r="r" b="b"/>
              <a:pathLst>
                <a:path w="1708910" h="1260855">
                  <a:moveTo>
                    <a:pt x="60852" y="0"/>
                  </a:moveTo>
                  <a:lnTo>
                    <a:pt x="1648059" y="0"/>
                  </a:lnTo>
                  <a:cubicBezTo>
                    <a:pt x="1664197" y="0"/>
                    <a:pt x="1679675" y="6411"/>
                    <a:pt x="1691087" y="17823"/>
                  </a:cubicBezTo>
                  <a:cubicBezTo>
                    <a:pt x="1702499" y="29235"/>
                    <a:pt x="1708910" y="44713"/>
                    <a:pt x="1708910" y="60852"/>
                  </a:cubicBezTo>
                  <a:lnTo>
                    <a:pt x="1708910" y="1200003"/>
                  </a:lnTo>
                  <a:cubicBezTo>
                    <a:pt x="1708910" y="1233611"/>
                    <a:pt x="1681666" y="1260855"/>
                    <a:pt x="1648059" y="1260855"/>
                  </a:cubicBezTo>
                  <a:lnTo>
                    <a:pt x="60852" y="1260855"/>
                  </a:lnTo>
                  <a:cubicBezTo>
                    <a:pt x="44713" y="1260855"/>
                    <a:pt x="29235" y="1254444"/>
                    <a:pt x="17823" y="1243032"/>
                  </a:cubicBezTo>
                  <a:cubicBezTo>
                    <a:pt x="6411" y="1231620"/>
                    <a:pt x="0" y="1216142"/>
                    <a:pt x="0" y="1200003"/>
                  </a:cubicBezTo>
                  <a:lnTo>
                    <a:pt x="0" y="60852"/>
                  </a:lnTo>
                  <a:cubicBezTo>
                    <a:pt x="0" y="44713"/>
                    <a:pt x="6411" y="29235"/>
                    <a:pt x="17823" y="17823"/>
                  </a:cubicBezTo>
                  <a:cubicBezTo>
                    <a:pt x="29235" y="6411"/>
                    <a:pt x="44713" y="0"/>
                    <a:pt x="60852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08910" cy="1318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839494" y="3662322"/>
            <a:ext cx="7315200" cy="2011680"/>
          </a:xfrm>
          <a:custGeom>
            <a:avLst/>
            <a:gdLst/>
            <a:ahLst/>
            <a:cxnLst/>
            <a:rect l="l" t="t" r="r" b="b"/>
            <a:pathLst>
              <a:path w="7315200" h="2011680">
                <a:moveTo>
                  <a:pt x="0" y="0"/>
                </a:moveTo>
                <a:lnTo>
                  <a:pt x="7315200" y="0"/>
                </a:lnTo>
                <a:lnTo>
                  <a:pt x="7315200" y="2011680"/>
                </a:lnTo>
                <a:lnTo>
                  <a:pt x="0" y="2011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TextBox 6"/>
          <p:cNvSpPr txBox="1"/>
          <p:nvPr/>
        </p:nvSpPr>
        <p:spPr>
          <a:xfrm>
            <a:off x="2229554" y="904875"/>
            <a:ext cx="3925987" cy="91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Start in IDLE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29554" y="2150597"/>
            <a:ext cx="10606895" cy="65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IDLE for quick tests, then run the .py module.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54129" y="4112260"/>
            <a:ext cx="5553303" cy="1031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&gt;&gt;&gt; means the Python Shell is ready for your command.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17757" y="4483780"/>
            <a:ext cx="3301703" cy="32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&gt;&gt;&gt; 2 + 2</a:t>
            </a:r>
          </a:p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&gt;&gt;&gt; x = 5</a:t>
            </a:r>
          </a:p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&gt;&gt;&gt; print(x)</a:t>
            </a:r>
          </a:p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  <p:sp>
        <p:nvSpPr>
          <p:cNvPr id="10" name="Freeform 10"/>
          <p:cNvSpPr/>
          <p:nvPr/>
        </p:nvSpPr>
        <p:spPr>
          <a:xfrm>
            <a:off x="9773181" y="6175102"/>
            <a:ext cx="7315200" cy="2011680"/>
          </a:xfrm>
          <a:custGeom>
            <a:avLst/>
            <a:gdLst/>
            <a:ahLst/>
            <a:cxnLst/>
            <a:rect l="l" t="t" r="r" b="b"/>
            <a:pathLst>
              <a:path w="7315200" h="2011680">
                <a:moveTo>
                  <a:pt x="0" y="0"/>
                </a:moveTo>
                <a:lnTo>
                  <a:pt x="7315200" y="0"/>
                </a:lnTo>
                <a:lnTo>
                  <a:pt x="7315200" y="2011680"/>
                </a:lnTo>
                <a:lnTo>
                  <a:pt x="0" y="2011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0482774" y="6627223"/>
            <a:ext cx="6028641" cy="1031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lesson file: Run → Run Module (F5)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0131" y="3660771"/>
            <a:ext cx="7364141" cy="4562149"/>
            <a:chOff x="0" y="0"/>
            <a:chExt cx="1939527" cy="12015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9527" cy="1201554"/>
            </a:xfrm>
            <a:custGeom>
              <a:avLst/>
              <a:gdLst/>
              <a:ahLst/>
              <a:cxnLst/>
              <a:rect l="l" t="t" r="r" b="b"/>
              <a:pathLst>
                <a:path w="1939527" h="1201554">
                  <a:moveTo>
                    <a:pt x="53616" y="0"/>
                  </a:moveTo>
                  <a:lnTo>
                    <a:pt x="1885911" y="0"/>
                  </a:lnTo>
                  <a:cubicBezTo>
                    <a:pt x="1900131" y="0"/>
                    <a:pt x="1913768" y="5649"/>
                    <a:pt x="1923823" y="15704"/>
                  </a:cubicBezTo>
                  <a:cubicBezTo>
                    <a:pt x="1933878" y="25759"/>
                    <a:pt x="1939527" y="39396"/>
                    <a:pt x="1939527" y="53616"/>
                  </a:cubicBezTo>
                  <a:lnTo>
                    <a:pt x="1939527" y="1147937"/>
                  </a:lnTo>
                  <a:cubicBezTo>
                    <a:pt x="1939527" y="1177549"/>
                    <a:pt x="1915522" y="1201554"/>
                    <a:pt x="1885911" y="1201554"/>
                  </a:cubicBezTo>
                  <a:lnTo>
                    <a:pt x="53616" y="1201554"/>
                  </a:lnTo>
                  <a:cubicBezTo>
                    <a:pt x="24005" y="1201554"/>
                    <a:pt x="0" y="1177549"/>
                    <a:pt x="0" y="1147937"/>
                  </a:cubicBezTo>
                  <a:lnTo>
                    <a:pt x="0" y="53616"/>
                  </a:lnTo>
                  <a:cubicBezTo>
                    <a:pt x="0" y="39396"/>
                    <a:pt x="5649" y="25759"/>
                    <a:pt x="15704" y="15704"/>
                  </a:cubicBezTo>
                  <a:cubicBezTo>
                    <a:pt x="25759" y="5649"/>
                    <a:pt x="39396" y="0"/>
                    <a:pt x="53616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39527" cy="1258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869978" y="5774889"/>
            <a:ext cx="7013838" cy="1928806"/>
          </a:xfrm>
          <a:custGeom>
            <a:avLst/>
            <a:gdLst/>
            <a:ahLst/>
            <a:cxnLst/>
            <a:rect l="l" t="t" r="r" b="b"/>
            <a:pathLst>
              <a:path w="7013838" h="1928806">
                <a:moveTo>
                  <a:pt x="0" y="0"/>
                </a:moveTo>
                <a:lnTo>
                  <a:pt x="7013838" y="0"/>
                </a:lnTo>
                <a:lnTo>
                  <a:pt x="7013838" y="1928806"/>
                </a:lnTo>
                <a:lnTo>
                  <a:pt x="0" y="1928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13471352" y="3336465"/>
            <a:ext cx="4233009" cy="2053009"/>
          </a:xfrm>
          <a:custGeom>
            <a:avLst/>
            <a:gdLst/>
            <a:ahLst/>
            <a:cxnLst/>
            <a:rect l="l" t="t" r="r" b="b"/>
            <a:pathLst>
              <a:path w="4233009" h="2053009">
                <a:moveTo>
                  <a:pt x="0" y="0"/>
                </a:moveTo>
                <a:lnTo>
                  <a:pt x="4233009" y="0"/>
                </a:lnTo>
                <a:lnTo>
                  <a:pt x="4233009" y="2053010"/>
                </a:lnTo>
                <a:lnTo>
                  <a:pt x="0" y="2053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587904" y="1146281"/>
            <a:ext cx="12658999" cy="91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1 - Floating-Point Numbers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60904" y="3675117"/>
            <a:ext cx="3453904" cy="114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float result</a:t>
            </a:r>
          </a:p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300.29999999999995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68350" y="6096672"/>
            <a:ext cx="6615465" cy="119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Idea: float values are approximate.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76578" y="4277245"/>
            <a:ext cx="4995821" cy="4257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= 100.10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+= 100.10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+= 100.10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print("Balance =", balance)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9143888" y="3336465"/>
            <a:ext cx="4233009" cy="2053009"/>
          </a:xfrm>
          <a:custGeom>
            <a:avLst/>
            <a:gdLst/>
            <a:ahLst/>
            <a:cxnLst/>
            <a:rect l="l" t="t" r="r" b="b"/>
            <a:pathLst>
              <a:path w="4233009" h="2053009">
                <a:moveTo>
                  <a:pt x="0" y="0"/>
                </a:moveTo>
                <a:lnTo>
                  <a:pt x="4233009" y="0"/>
                </a:lnTo>
                <a:lnTo>
                  <a:pt x="4233009" y="2053010"/>
                </a:lnTo>
                <a:lnTo>
                  <a:pt x="0" y="20530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0346572" y="3675117"/>
            <a:ext cx="2074028" cy="1199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Expected?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300.30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29269" y="904875"/>
            <a:ext cx="7589604" cy="85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round() for Display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13898" y="7844392"/>
            <a:ext cx="7154441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means: round to 2 decimal places.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789094" y="3143868"/>
            <a:ext cx="7629779" cy="4151755"/>
            <a:chOff x="0" y="0"/>
            <a:chExt cx="2009489" cy="10934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09489" cy="1093466"/>
            </a:xfrm>
            <a:custGeom>
              <a:avLst/>
              <a:gdLst/>
              <a:ahLst/>
              <a:cxnLst/>
              <a:rect l="l" t="t" r="r" b="b"/>
              <a:pathLst>
                <a:path w="2009489" h="1093466">
                  <a:moveTo>
                    <a:pt x="51750" y="0"/>
                  </a:moveTo>
                  <a:lnTo>
                    <a:pt x="1957740" y="0"/>
                  </a:lnTo>
                  <a:cubicBezTo>
                    <a:pt x="1971464" y="0"/>
                    <a:pt x="1984627" y="5452"/>
                    <a:pt x="1994332" y="15157"/>
                  </a:cubicBezTo>
                  <a:cubicBezTo>
                    <a:pt x="2004037" y="24862"/>
                    <a:pt x="2009489" y="38025"/>
                    <a:pt x="2009489" y="51750"/>
                  </a:cubicBezTo>
                  <a:lnTo>
                    <a:pt x="2009489" y="1041717"/>
                  </a:lnTo>
                  <a:cubicBezTo>
                    <a:pt x="2009489" y="1055442"/>
                    <a:pt x="2004037" y="1068604"/>
                    <a:pt x="1994332" y="1078309"/>
                  </a:cubicBezTo>
                  <a:cubicBezTo>
                    <a:pt x="1984627" y="1088014"/>
                    <a:pt x="1971464" y="1093466"/>
                    <a:pt x="1957740" y="1093466"/>
                  </a:cubicBezTo>
                  <a:lnTo>
                    <a:pt x="51750" y="1093466"/>
                  </a:lnTo>
                  <a:cubicBezTo>
                    <a:pt x="38025" y="1093466"/>
                    <a:pt x="24862" y="1088014"/>
                    <a:pt x="15157" y="1078309"/>
                  </a:cubicBezTo>
                  <a:cubicBezTo>
                    <a:pt x="5452" y="1068604"/>
                    <a:pt x="0" y="1055442"/>
                    <a:pt x="0" y="1041717"/>
                  </a:cubicBezTo>
                  <a:lnTo>
                    <a:pt x="0" y="51750"/>
                  </a:lnTo>
                  <a:cubicBezTo>
                    <a:pt x="0" y="38025"/>
                    <a:pt x="5452" y="24862"/>
                    <a:pt x="15157" y="15157"/>
                  </a:cubicBezTo>
                  <a:cubicBezTo>
                    <a:pt x="24862" y="5452"/>
                    <a:pt x="38025" y="0"/>
                    <a:pt x="51750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009489" cy="1150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901997" y="4136707"/>
            <a:ext cx="7242003" cy="1918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rounded_balance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round(balance, 2)</a:t>
            </a:r>
          </a:p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print("Rounded Balance =", </a:t>
            </a: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rounded_balance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</p:txBody>
      </p:sp>
      <p:sp>
        <p:nvSpPr>
          <p:cNvPr id="8" name="Freeform 8"/>
          <p:cNvSpPr/>
          <p:nvPr/>
        </p:nvSpPr>
        <p:spPr>
          <a:xfrm>
            <a:off x="9644033" y="4679453"/>
            <a:ext cx="7013838" cy="1928806"/>
          </a:xfrm>
          <a:custGeom>
            <a:avLst/>
            <a:gdLst/>
            <a:ahLst/>
            <a:cxnLst/>
            <a:rect l="l" t="t" r="r" b="b"/>
            <a:pathLst>
              <a:path w="7013838" h="1928806">
                <a:moveTo>
                  <a:pt x="0" y="0"/>
                </a:moveTo>
                <a:lnTo>
                  <a:pt x="7013838" y="0"/>
                </a:lnTo>
                <a:lnTo>
                  <a:pt x="7013838" y="1928805"/>
                </a:lnTo>
                <a:lnTo>
                  <a:pt x="0" y="1928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9644033" y="2436322"/>
            <a:ext cx="7013838" cy="1928806"/>
          </a:xfrm>
          <a:custGeom>
            <a:avLst/>
            <a:gdLst/>
            <a:ahLst/>
            <a:cxnLst/>
            <a:rect l="l" t="t" r="r" b="b"/>
            <a:pathLst>
              <a:path w="7013838" h="1928806">
                <a:moveTo>
                  <a:pt x="0" y="0"/>
                </a:moveTo>
                <a:lnTo>
                  <a:pt x="7013838" y="0"/>
                </a:lnTo>
                <a:lnTo>
                  <a:pt x="7013838" y="1928806"/>
                </a:lnTo>
                <a:lnTo>
                  <a:pt x="0" y="1928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1387391" y="5293522"/>
            <a:ext cx="4327432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↓round(balance, 2)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87391" y="3058143"/>
            <a:ext cx="4538409" cy="576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300.29999999999995</a:t>
            </a:r>
          </a:p>
        </p:txBody>
      </p:sp>
      <p:sp>
        <p:nvSpPr>
          <p:cNvPr id="12" name="Freeform 12"/>
          <p:cNvSpPr/>
          <p:nvPr/>
        </p:nvSpPr>
        <p:spPr>
          <a:xfrm>
            <a:off x="9644033" y="6923590"/>
            <a:ext cx="7013838" cy="1928806"/>
          </a:xfrm>
          <a:custGeom>
            <a:avLst/>
            <a:gdLst/>
            <a:ahLst/>
            <a:cxnLst/>
            <a:rect l="l" t="t" r="r" b="b"/>
            <a:pathLst>
              <a:path w="7013838" h="1928806">
                <a:moveTo>
                  <a:pt x="0" y="0"/>
                </a:moveTo>
                <a:lnTo>
                  <a:pt x="7013838" y="0"/>
                </a:lnTo>
                <a:lnTo>
                  <a:pt x="7013838" y="1928806"/>
                </a:lnTo>
                <a:lnTo>
                  <a:pt x="0" y="1928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1629896" y="7520569"/>
            <a:ext cx="3301703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300.3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3898" y="904875"/>
            <a:ext cx="9535102" cy="85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2 - The math Module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38703" y="3143868"/>
            <a:ext cx="8180170" cy="5327591"/>
            <a:chOff x="0" y="0"/>
            <a:chExt cx="2154448" cy="14031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4448" cy="1403151"/>
            </a:xfrm>
            <a:custGeom>
              <a:avLst/>
              <a:gdLst/>
              <a:ahLst/>
              <a:cxnLst/>
              <a:rect l="l" t="t" r="r" b="b"/>
              <a:pathLst>
                <a:path w="2154448" h="1403151">
                  <a:moveTo>
                    <a:pt x="48268" y="0"/>
                  </a:moveTo>
                  <a:lnTo>
                    <a:pt x="2106181" y="0"/>
                  </a:lnTo>
                  <a:cubicBezTo>
                    <a:pt x="2132838" y="0"/>
                    <a:pt x="2154448" y="21610"/>
                    <a:pt x="2154448" y="48268"/>
                  </a:cubicBezTo>
                  <a:lnTo>
                    <a:pt x="2154448" y="1354884"/>
                  </a:lnTo>
                  <a:cubicBezTo>
                    <a:pt x="2154448" y="1367685"/>
                    <a:pt x="2149363" y="1379962"/>
                    <a:pt x="2140311" y="1389014"/>
                  </a:cubicBezTo>
                  <a:cubicBezTo>
                    <a:pt x="2131259" y="1398066"/>
                    <a:pt x="2118982" y="1403151"/>
                    <a:pt x="2106181" y="1403151"/>
                  </a:cubicBezTo>
                  <a:lnTo>
                    <a:pt x="48268" y="1403151"/>
                  </a:lnTo>
                  <a:cubicBezTo>
                    <a:pt x="35466" y="1403151"/>
                    <a:pt x="23189" y="1398066"/>
                    <a:pt x="14137" y="1389014"/>
                  </a:cubicBezTo>
                  <a:cubicBezTo>
                    <a:pt x="5085" y="1379962"/>
                    <a:pt x="0" y="1367685"/>
                    <a:pt x="0" y="1354884"/>
                  </a:cubicBezTo>
                  <a:lnTo>
                    <a:pt x="0" y="48268"/>
                  </a:lnTo>
                  <a:cubicBezTo>
                    <a:pt x="0" y="21610"/>
                    <a:pt x="21610" y="0"/>
                    <a:pt x="48268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154448" cy="1460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07786" y="3843608"/>
            <a:ext cx="7242003" cy="3832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math</a:t>
            </a:r>
          </a:p>
          <a:p>
            <a:pPr algn="ctr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math.sqrt(25)   # 5.0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math.ceil(4.2)   # 5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math.floor(4.8)  # 4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math.pi             # 3.14159....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00338" y="3371239"/>
            <a:ext cx="4754761" cy="2960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sqrt() → square root</a:t>
            </a:r>
          </a:p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ceil() → round up</a:t>
            </a:r>
          </a:p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floor() → round down</a:t>
            </a:r>
          </a:p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 → value of π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6263" y="704733"/>
            <a:ext cx="13331830" cy="91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 3 - Format Numbers with  f-Strings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9094" y="3143868"/>
            <a:ext cx="7629779" cy="5327591"/>
            <a:chOff x="0" y="0"/>
            <a:chExt cx="2009489" cy="14031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09489" cy="1403151"/>
            </a:xfrm>
            <a:custGeom>
              <a:avLst/>
              <a:gdLst/>
              <a:ahLst/>
              <a:cxnLst/>
              <a:rect l="l" t="t" r="r" b="b"/>
              <a:pathLst>
                <a:path w="2009489" h="1403151">
                  <a:moveTo>
                    <a:pt x="51750" y="0"/>
                  </a:moveTo>
                  <a:lnTo>
                    <a:pt x="1957740" y="0"/>
                  </a:lnTo>
                  <a:cubicBezTo>
                    <a:pt x="1971464" y="0"/>
                    <a:pt x="1984627" y="5452"/>
                    <a:pt x="1994332" y="15157"/>
                  </a:cubicBezTo>
                  <a:cubicBezTo>
                    <a:pt x="2004037" y="24862"/>
                    <a:pt x="2009489" y="38025"/>
                    <a:pt x="2009489" y="51750"/>
                  </a:cubicBezTo>
                  <a:lnTo>
                    <a:pt x="2009489" y="1351402"/>
                  </a:lnTo>
                  <a:cubicBezTo>
                    <a:pt x="2009489" y="1365127"/>
                    <a:pt x="2004037" y="1378289"/>
                    <a:pt x="1994332" y="1387994"/>
                  </a:cubicBezTo>
                  <a:cubicBezTo>
                    <a:pt x="1984627" y="1397699"/>
                    <a:pt x="1971464" y="1403151"/>
                    <a:pt x="1957740" y="1403151"/>
                  </a:cubicBezTo>
                  <a:lnTo>
                    <a:pt x="51750" y="1403151"/>
                  </a:lnTo>
                  <a:cubicBezTo>
                    <a:pt x="38025" y="1403151"/>
                    <a:pt x="24862" y="1397699"/>
                    <a:pt x="15157" y="1387994"/>
                  </a:cubicBezTo>
                  <a:cubicBezTo>
                    <a:pt x="5452" y="1378289"/>
                    <a:pt x="0" y="1365127"/>
                    <a:pt x="0" y="1351402"/>
                  </a:cubicBezTo>
                  <a:lnTo>
                    <a:pt x="0" y="51750"/>
                  </a:lnTo>
                  <a:cubicBezTo>
                    <a:pt x="0" y="38025"/>
                    <a:pt x="5452" y="24862"/>
                    <a:pt x="15157" y="15157"/>
                  </a:cubicBezTo>
                  <a:cubicBezTo>
                    <a:pt x="24862" y="5452"/>
                    <a:pt x="38025" y="0"/>
                    <a:pt x="51750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009489" cy="1460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01997" y="3665484"/>
            <a:ext cx="7242003" cy="44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  = 12345.678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rate  = 0.075</a:t>
            </a:r>
          </a:p>
          <a:p>
            <a:pPr algn="ctr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print(f"{price:.2f}")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print(f"{price:,.2f}")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print(f"{rate:.1%}")</a:t>
            </a:r>
          </a:p>
          <a:p>
            <a:pPr algn="ctr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9644033" y="4679453"/>
            <a:ext cx="7013838" cy="1928806"/>
          </a:xfrm>
          <a:custGeom>
            <a:avLst/>
            <a:gdLst/>
            <a:ahLst/>
            <a:cxnLst/>
            <a:rect l="l" t="t" r="r" b="b"/>
            <a:pathLst>
              <a:path w="7013838" h="1928806">
                <a:moveTo>
                  <a:pt x="0" y="0"/>
                </a:moveTo>
                <a:lnTo>
                  <a:pt x="7013838" y="0"/>
                </a:lnTo>
                <a:lnTo>
                  <a:pt x="7013838" y="1928805"/>
                </a:lnTo>
                <a:lnTo>
                  <a:pt x="0" y="1928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8"/>
          <p:cNvSpPr/>
          <p:nvPr/>
        </p:nvSpPr>
        <p:spPr>
          <a:xfrm>
            <a:off x="9644033" y="2436322"/>
            <a:ext cx="7013838" cy="1928806"/>
          </a:xfrm>
          <a:custGeom>
            <a:avLst/>
            <a:gdLst/>
            <a:ahLst/>
            <a:cxnLst/>
            <a:rect l="l" t="t" r="r" b="b"/>
            <a:pathLst>
              <a:path w="7013838" h="1928806">
                <a:moveTo>
                  <a:pt x="0" y="0"/>
                </a:moveTo>
                <a:lnTo>
                  <a:pt x="7013838" y="0"/>
                </a:lnTo>
                <a:lnTo>
                  <a:pt x="7013838" y="1928806"/>
                </a:lnTo>
                <a:lnTo>
                  <a:pt x="0" y="1928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1387391" y="5293522"/>
            <a:ext cx="4327432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,.2f → 12345.68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68949" y="3058143"/>
            <a:ext cx="2925763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.2f → 12345.68 </a:t>
            </a:r>
          </a:p>
        </p:txBody>
      </p:sp>
      <p:sp>
        <p:nvSpPr>
          <p:cNvPr id="11" name="Freeform 11"/>
          <p:cNvSpPr/>
          <p:nvPr/>
        </p:nvSpPr>
        <p:spPr>
          <a:xfrm>
            <a:off x="9644033" y="6923590"/>
            <a:ext cx="7013838" cy="1928806"/>
          </a:xfrm>
          <a:custGeom>
            <a:avLst/>
            <a:gdLst/>
            <a:ahLst/>
            <a:cxnLst/>
            <a:rect l="l" t="t" r="r" b="b"/>
            <a:pathLst>
              <a:path w="7013838" h="1928806">
                <a:moveTo>
                  <a:pt x="0" y="0"/>
                </a:moveTo>
                <a:lnTo>
                  <a:pt x="7013838" y="0"/>
                </a:lnTo>
                <a:lnTo>
                  <a:pt x="7013838" y="1928806"/>
                </a:lnTo>
                <a:lnTo>
                  <a:pt x="0" y="1928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1629896" y="7520569"/>
            <a:ext cx="3301703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.1% → 7.5%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6476" y="679715"/>
            <a:ext cx="13331830" cy="91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 4 - Decimal for Exact Decimal Values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675" y="2546102"/>
            <a:ext cx="8950647" cy="5925356"/>
            <a:chOff x="0" y="0"/>
            <a:chExt cx="2357372" cy="15605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57372" cy="1560588"/>
            </a:xfrm>
            <a:custGeom>
              <a:avLst/>
              <a:gdLst/>
              <a:ahLst/>
              <a:cxnLst/>
              <a:rect l="l" t="t" r="r" b="b"/>
              <a:pathLst>
                <a:path w="2357372" h="1560588">
                  <a:moveTo>
                    <a:pt x="44113" y="0"/>
                  </a:moveTo>
                  <a:lnTo>
                    <a:pt x="2313259" y="0"/>
                  </a:lnTo>
                  <a:cubicBezTo>
                    <a:pt x="2324959" y="0"/>
                    <a:pt x="2336179" y="4648"/>
                    <a:pt x="2344452" y="12920"/>
                  </a:cubicBezTo>
                  <a:cubicBezTo>
                    <a:pt x="2352725" y="21193"/>
                    <a:pt x="2357372" y="32413"/>
                    <a:pt x="2357372" y="44113"/>
                  </a:cubicBezTo>
                  <a:lnTo>
                    <a:pt x="2357372" y="1516475"/>
                  </a:lnTo>
                  <a:cubicBezTo>
                    <a:pt x="2357372" y="1540838"/>
                    <a:pt x="2337622" y="1560588"/>
                    <a:pt x="2313259" y="1560588"/>
                  </a:cubicBezTo>
                  <a:lnTo>
                    <a:pt x="44113" y="1560588"/>
                  </a:lnTo>
                  <a:cubicBezTo>
                    <a:pt x="19750" y="1560588"/>
                    <a:pt x="0" y="1540838"/>
                    <a:pt x="0" y="1516475"/>
                  </a:cubicBezTo>
                  <a:lnTo>
                    <a:pt x="0" y="44113"/>
                  </a:lnTo>
                  <a:cubicBezTo>
                    <a:pt x="0" y="19750"/>
                    <a:pt x="19750" y="0"/>
                    <a:pt x="44113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357372" cy="1617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14292" y="3158397"/>
            <a:ext cx="7817413" cy="44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decimal import Decinmal</a:t>
            </a:r>
          </a:p>
          <a:p>
            <a:pPr algn="ctr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decimal_balance = Decimal("100.10")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decimal_balance += Decimal("100.10")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decimal_balance += Decimal("100.10")</a:t>
            </a:r>
          </a:p>
          <a:p>
            <a:pPr algn="ctr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print(decimal_balance)</a:t>
            </a:r>
          </a:p>
        </p:txBody>
      </p:sp>
      <p:sp>
        <p:nvSpPr>
          <p:cNvPr id="7" name="Freeform 7"/>
          <p:cNvSpPr/>
          <p:nvPr/>
        </p:nvSpPr>
        <p:spPr>
          <a:xfrm>
            <a:off x="10245462" y="4789232"/>
            <a:ext cx="7013838" cy="1928806"/>
          </a:xfrm>
          <a:custGeom>
            <a:avLst/>
            <a:gdLst/>
            <a:ahLst/>
            <a:cxnLst/>
            <a:rect l="l" t="t" r="r" b="b"/>
            <a:pathLst>
              <a:path w="7013838" h="1928806">
                <a:moveTo>
                  <a:pt x="0" y="0"/>
                </a:moveTo>
                <a:lnTo>
                  <a:pt x="7013838" y="0"/>
                </a:lnTo>
                <a:lnTo>
                  <a:pt x="7013838" y="1928806"/>
                </a:lnTo>
                <a:lnTo>
                  <a:pt x="0" y="1928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8"/>
          <p:cNvSpPr/>
          <p:nvPr/>
        </p:nvSpPr>
        <p:spPr>
          <a:xfrm>
            <a:off x="10245462" y="2546102"/>
            <a:ext cx="7013838" cy="1928806"/>
          </a:xfrm>
          <a:custGeom>
            <a:avLst/>
            <a:gdLst/>
            <a:ahLst/>
            <a:cxnLst/>
            <a:rect l="l" t="t" r="r" b="b"/>
            <a:pathLst>
              <a:path w="7013838" h="1928806">
                <a:moveTo>
                  <a:pt x="0" y="0"/>
                </a:moveTo>
                <a:lnTo>
                  <a:pt x="7013838" y="0"/>
                </a:lnTo>
                <a:lnTo>
                  <a:pt x="7013838" y="1928805"/>
                </a:lnTo>
                <a:lnTo>
                  <a:pt x="0" y="1928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1588665" y="5057775"/>
            <a:ext cx="4327432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Decimal</a:t>
            </a: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300.30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52378" y="2850104"/>
            <a:ext cx="4249621" cy="1235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</a:t>
            </a:r>
          </a:p>
          <a:p>
            <a:pPr algn="ctr">
              <a:lnSpc>
                <a:spcPts val="4899"/>
              </a:lnSpc>
            </a:pPr>
            <a:r>
              <a:rPr lang="en-US" sz="34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300.29999999999995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12971" y="7013482"/>
            <a:ext cx="6646329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Decimal values from strings: Decimal("100.10")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6476" y="679715"/>
            <a:ext cx="13331830" cy="91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 5 - quantize() + ROUND_HALF_UP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675" y="2546102"/>
            <a:ext cx="8950647" cy="6712198"/>
            <a:chOff x="0" y="0"/>
            <a:chExt cx="2357372" cy="17678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57372" cy="1767822"/>
            </a:xfrm>
            <a:custGeom>
              <a:avLst/>
              <a:gdLst/>
              <a:ahLst/>
              <a:cxnLst/>
              <a:rect l="l" t="t" r="r" b="b"/>
              <a:pathLst>
                <a:path w="2357372" h="1767822">
                  <a:moveTo>
                    <a:pt x="44113" y="0"/>
                  </a:moveTo>
                  <a:lnTo>
                    <a:pt x="2313259" y="0"/>
                  </a:lnTo>
                  <a:cubicBezTo>
                    <a:pt x="2324959" y="0"/>
                    <a:pt x="2336179" y="4648"/>
                    <a:pt x="2344452" y="12920"/>
                  </a:cubicBezTo>
                  <a:cubicBezTo>
                    <a:pt x="2352725" y="21193"/>
                    <a:pt x="2357372" y="32413"/>
                    <a:pt x="2357372" y="44113"/>
                  </a:cubicBezTo>
                  <a:lnTo>
                    <a:pt x="2357372" y="1723709"/>
                  </a:lnTo>
                  <a:cubicBezTo>
                    <a:pt x="2357372" y="1748072"/>
                    <a:pt x="2337622" y="1767822"/>
                    <a:pt x="2313259" y="1767822"/>
                  </a:cubicBezTo>
                  <a:lnTo>
                    <a:pt x="44113" y="1767822"/>
                  </a:lnTo>
                  <a:cubicBezTo>
                    <a:pt x="32413" y="1767822"/>
                    <a:pt x="21193" y="1763174"/>
                    <a:pt x="12920" y="1754901"/>
                  </a:cubicBezTo>
                  <a:cubicBezTo>
                    <a:pt x="4648" y="1746629"/>
                    <a:pt x="0" y="1735408"/>
                    <a:pt x="0" y="1723709"/>
                  </a:cubicBezTo>
                  <a:lnTo>
                    <a:pt x="0" y="44113"/>
                  </a:lnTo>
                  <a:cubicBezTo>
                    <a:pt x="0" y="19750"/>
                    <a:pt x="19750" y="0"/>
                    <a:pt x="44113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357372" cy="1824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26587" y="2722259"/>
            <a:ext cx="7817413" cy="6359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decimal import ROUND_HALF_UP</a:t>
            </a:r>
          </a:p>
          <a:p>
            <a:pPr algn="ctr">
              <a:lnSpc>
                <a:spcPts val="5039"/>
              </a:lnSpc>
            </a:pPr>
            <a:endParaRPr lang="en-US" sz="35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 = Decimal("10.005")</a:t>
            </a:r>
          </a:p>
          <a:p>
            <a:pPr algn="ctr">
              <a:lnSpc>
                <a:spcPts val="5039"/>
              </a:lnSpc>
            </a:pP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rounded_price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price.quantize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</a:p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Decimal("1.00"),</a:t>
            </a:r>
          </a:p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rounding=ROUND_HALF_UP</a:t>
            </a:r>
          </a:p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print("Original Decimal =", price)</a:t>
            </a:r>
          </a:p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print("Rounded Decimal =", </a:t>
            </a:r>
            <a:r>
              <a:rPr lang="en-US" sz="35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rounded_price</a:t>
            </a: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</p:txBody>
      </p:sp>
      <p:sp>
        <p:nvSpPr>
          <p:cNvPr id="7" name="Freeform 7"/>
          <p:cNvSpPr/>
          <p:nvPr/>
        </p:nvSpPr>
        <p:spPr>
          <a:xfrm>
            <a:off x="10245462" y="5496777"/>
            <a:ext cx="7013838" cy="1928806"/>
          </a:xfrm>
          <a:custGeom>
            <a:avLst/>
            <a:gdLst/>
            <a:ahLst/>
            <a:cxnLst/>
            <a:rect l="l" t="t" r="r" b="b"/>
            <a:pathLst>
              <a:path w="7013838" h="1928806">
                <a:moveTo>
                  <a:pt x="0" y="0"/>
                </a:moveTo>
                <a:lnTo>
                  <a:pt x="7013838" y="0"/>
                </a:lnTo>
                <a:lnTo>
                  <a:pt x="7013838" y="1928806"/>
                </a:lnTo>
                <a:lnTo>
                  <a:pt x="0" y="1928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8"/>
          <p:cNvSpPr/>
          <p:nvPr/>
        </p:nvSpPr>
        <p:spPr>
          <a:xfrm>
            <a:off x="10245462" y="3253647"/>
            <a:ext cx="7013838" cy="1928806"/>
          </a:xfrm>
          <a:custGeom>
            <a:avLst/>
            <a:gdLst/>
            <a:ahLst/>
            <a:cxnLst/>
            <a:rect l="l" t="t" r="r" b="b"/>
            <a:pathLst>
              <a:path w="7013838" h="1928806">
                <a:moveTo>
                  <a:pt x="0" y="0"/>
                </a:moveTo>
                <a:lnTo>
                  <a:pt x="7013838" y="0"/>
                </a:lnTo>
                <a:lnTo>
                  <a:pt x="7013838" y="1928805"/>
                </a:lnTo>
                <a:lnTo>
                  <a:pt x="0" y="1928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1588665" y="5765320"/>
            <a:ext cx="4327432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ROUND_HALF_UP</a:t>
            </a: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10.005 → 10.01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63206" y="3557650"/>
            <a:ext cx="4578350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Decimal("1.00")</a:t>
            </a: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keep 2 decimal places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90935" y="1074977"/>
            <a:ext cx="6691065" cy="85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Your Turn - Practice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39414" y="5602347"/>
            <a:ext cx="11732696" cy="239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the amount and observe the floating-point result.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a different number with math.sqrt().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the sales value and keep comma + 2 decimal places.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the Decimal price and quantity, then calculate total.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03855" y="2683679"/>
            <a:ext cx="15230111" cy="2309068"/>
            <a:chOff x="0" y="0"/>
            <a:chExt cx="4011223" cy="608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11223" cy="608150"/>
            </a:xfrm>
            <a:custGeom>
              <a:avLst/>
              <a:gdLst/>
              <a:ahLst/>
              <a:cxnLst/>
              <a:rect l="l" t="t" r="r" b="b"/>
              <a:pathLst>
                <a:path w="4011223" h="608150">
                  <a:moveTo>
                    <a:pt x="25925" y="0"/>
                  </a:moveTo>
                  <a:lnTo>
                    <a:pt x="3985298" y="0"/>
                  </a:lnTo>
                  <a:cubicBezTo>
                    <a:pt x="3999616" y="0"/>
                    <a:pt x="4011223" y="11607"/>
                    <a:pt x="4011223" y="25925"/>
                  </a:cubicBezTo>
                  <a:lnTo>
                    <a:pt x="4011223" y="582225"/>
                  </a:lnTo>
                  <a:cubicBezTo>
                    <a:pt x="4011223" y="596543"/>
                    <a:pt x="3999616" y="608150"/>
                    <a:pt x="3985298" y="608150"/>
                  </a:cubicBezTo>
                  <a:lnTo>
                    <a:pt x="25925" y="608150"/>
                  </a:lnTo>
                  <a:cubicBezTo>
                    <a:pt x="11607" y="608150"/>
                    <a:pt x="0" y="596543"/>
                    <a:pt x="0" y="582225"/>
                  </a:cubicBezTo>
                  <a:lnTo>
                    <a:pt x="0" y="25925"/>
                  </a:lnTo>
                  <a:cubicBezTo>
                    <a:pt x="0" y="11607"/>
                    <a:pt x="11607" y="0"/>
                    <a:pt x="25925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4011223" cy="73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719"/>
                </a:lnSpc>
                <a:spcBef>
                  <a:spcPct val="0"/>
                </a:spcBef>
              </a:pPr>
              <a:r>
                <a:rPr lang="en-US" sz="4799" u="sng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2" tooltip="https://github.com/Wendy-Chen56/murachs_python_section_2/blob/main/code/chapter09/practice_ch09.py"/>
                </a:rPr>
                <a:t>practice_ch09.py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6476" y="679715"/>
            <a:ext cx="13331830" cy="91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Finish with Git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675" y="2546102"/>
            <a:ext cx="8950647" cy="6712198"/>
            <a:chOff x="0" y="0"/>
            <a:chExt cx="2357372" cy="17678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57372" cy="1767822"/>
            </a:xfrm>
            <a:custGeom>
              <a:avLst/>
              <a:gdLst/>
              <a:ahLst/>
              <a:cxnLst/>
              <a:rect l="l" t="t" r="r" b="b"/>
              <a:pathLst>
                <a:path w="2357372" h="1767822">
                  <a:moveTo>
                    <a:pt x="44113" y="0"/>
                  </a:moveTo>
                  <a:lnTo>
                    <a:pt x="2313259" y="0"/>
                  </a:lnTo>
                  <a:cubicBezTo>
                    <a:pt x="2324959" y="0"/>
                    <a:pt x="2336179" y="4648"/>
                    <a:pt x="2344452" y="12920"/>
                  </a:cubicBezTo>
                  <a:cubicBezTo>
                    <a:pt x="2352725" y="21193"/>
                    <a:pt x="2357372" y="32413"/>
                    <a:pt x="2357372" y="44113"/>
                  </a:cubicBezTo>
                  <a:lnTo>
                    <a:pt x="2357372" y="1723709"/>
                  </a:lnTo>
                  <a:cubicBezTo>
                    <a:pt x="2357372" y="1748072"/>
                    <a:pt x="2337622" y="1767822"/>
                    <a:pt x="2313259" y="1767822"/>
                  </a:cubicBezTo>
                  <a:lnTo>
                    <a:pt x="44113" y="1767822"/>
                  </a:lnTo>
                  <a:cubicBezTo>
                    <a:pt x="32413" y="1767822"/>
                    <a:pt x="21193" y="1763174"/>
                    <a:pt x="12920" y="1754901"/>
                  </a:cubicBezTo>
                  <a:cubicBezTo>
                    <a:pt x="4648" y="1746629"/>
                    <a:pt x="0" y="1735408"/>
                    <a:pt x="0" y="1723709"/>
                  </a:cubicBezTo>
                  <a:lnTo>
                    <a:pt x="0" y="44113"/>
                  </a:lnTo>
                  <a:cubicBezTo>
                    <a:pt x="0" y="19750"/>
                    <a:pt x="19750" y="0"/>
                    <a:pt x="44113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357372" cy="1824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39168" y="3299971"/>
            <a:ext cx="8167661" cy="510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status</a:t>
            </a:r>
          </a:p>
          <a:p>
            <a:pPr algn="ctr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add .</a:t>
            </a:r>
          </a:p>
          <a:p>
            <a:pPr algn="ctr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commit -m "Complete Chapter 9 practice"</a:t>
            </a:r>
          </a:p>
          <a:p>
            <a:pPr algn="ctr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push</a:t>
            </a:r>
          </a:p>
        </p:txBody>
      </p:sp>
      <p:sp>
        <p:nvSpPr>
          <p:cNvPr id="7" name="Freeform 7"/>
          <p:cNvSpPr/>
          <p:nvPr/>
        </p:nvSpPr>
        <p:spPr>
          <a:xfrm>
            <a:off x="10245462" y="6505959"/>
            <a:ext cx="7013838" cy="1928806"/>
          </a:xfrm>
          <a:custGeom>
            <a:avLst/>
            <a:gdLst/>
            <a:ahLst/>
            <a:cxnLst/>
            <a:rect l="l" t="t" r="r" b="b"/>
            <a:pathLst>
              <a:path w="7013838" h="1928806">
                <a:moveTo>
                  <a:pt x="0" y="0"/>
                </a:moveTo>
                <a:lnTo>
                  <a:pt x="7013838" y="0"/>
                </a:lnTo>
                <a:lnTo>
                  <a:pt x="7013838" y="1928805"/>
                </a:lnTo>
                <a:lnTo>
                  <a:pt x="0" y="1928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1463206" y="6809962"/>
            <a:ext cx="4578350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Decimal("1.00")</a:t>
            </a: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keep 2 decimal places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15157" y="3190602"/>
            <a:ext cx="5274448" cy="2711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9"/>
              </a:lnSpc>
            </a:pPr>
            <a:r>
              <a:rPr lang="en-US" sz="3835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→ see what changed</a:t>
            </a:r>
          </a:p>
          <a:p>
            <a:pPr algn="l">
              <a:lnSpc>
                <a:spcPts val="5369"/>
              </a:lnSpc>
            </a:pPr>
            <a:r>
              <a:rPr lang="en-US" sz="3835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→ stage the changes</a:t>
            </a:r>
          </a:p>
          <a:p>
            <a:pPr algn="l">
              <a:lnSpc>
                <a:spcPts val="5369"/>
              </a:lnSpc>
            </a:pPr>
            <a:r>
              <a:rPr lang="en-US" sz="3835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commit → save a version</a:t>
            </a:r>
          </a:p>
          <a:p>
            <a:pPr algn="l">
              <a:lnSpc>
                <a:spcPts val="5369"/>
              </a:lnSpc>
            </a:pPr>
            <a:r>
              <a:rPr lang="en-US" sz="3835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 → send it to GitHub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528</Words>
  <Application>Microsoft Office PowerPoint</Application>
  <PresentationFormat>Custom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Times New Roman Bold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新增標題</dc:title>
  <cp:lastModifiedBy>盈慈 陳</cp:lastModifiedBy>
  <cp:revision>3</cp:revision>
  <dcterms:created xsi:type="dcterms:W3CDTF">2006-08-16T00:00:00Z</dcterms:created>
  <dcterms:modified xsi:type="dcterms:W3CDTF">2026-09-25T01:33:50Z</dcterms:modified>
  <dc:identifier>DAHURfh2geA</dc:identifier>
</cp:coreProperties>
</file>