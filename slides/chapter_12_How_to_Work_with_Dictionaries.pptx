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8288000" cy="10287000"/>
  <p:notesSz cx="6858000" cy="9144000"/>
  <p:embeddedFontLst>
    <p:embeddedFont>
      <p:font typeface="Noto Sans T Chinese" panose="02020500000000000000" charset="-120"/>
      <p:regular r:id="rId13"/>
    </p:embeddedFont>
    <p:embeddedFont>
      <p:font typeface="Times New Roman Bold" panose="02020803070505020304" pitchFamily="18" charset="0"/>
      <p:regular r:id="rId14"/>
      <p:bold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74480" autoAdjust="0"/>
  </p:normalViewPr>
  <p:slideViewPr>
    <p:cSldViewPr>
      <p:cViewPr varScale="1">
        <p:scale>
          <a:sx n="36" d="100"/>
          <a:sy n="36" d="100"/>
        </p:scale>
        <p:origin x="52" y="42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盈慈 陳" userId="47c6c481c66a08f8" providerId="LiveId" clId="{C8E897B1-1C11-4474-A106-AD9E28844469}"/>
    <pc:docChg chg="modSld">
      <pc:chgData name="盈慈 陳" userId="47c6c481c66a08f8" providerId="LiveId" clId="{C8E897B1-1C11-4474-A106-AD9E28844469}" dt="2026-09-11T20:41:25.185" v="22" actId="20577"/>
      <pc:docMkLst>
        <pc:docMk/>
      </pc:docMkLst>
      <pc:sldChg chg="modSp mod">
        <pc:chgData name="盈慈 陳" userId="47c6c481c66a08f8" providerId="LiveId" clId="{C8E897B1-1C11-4474-A106-AD9E28844469}" dt="2026-09-11T20:41:25.185" v="22" actId="20577"/>
        <pc:sldMkLst>
          <pc:docMk/>
          <pc:sldMk cId="0" sldId="256"/>
        </pc:sldMkLst>
        <pc:spChg chg="mod">
          <ac:chgData name="盈慈 陳" userId="47c6c481c66a08f8" providerId="LiveId" clId="{C8E897B1-1C11-4474-A106-AD9E28844469}" dt="2026-09-11T20:41:25.185" v="22" actId="20577"/>
          <ac:spMkLst>
            <pc:docMk/>
            <pc:sldMk cId="0" sldId="256"/>
            <ac:spMk id="2" creationId="{00000000-0000-0000-0000-000000000000}"/>
          </ac:spMkLst>
        </pc:spChg>
        <pc:spChg chg="mod">
          <ac:chgData name="盈慈 陳" userId="47c6c481c66a08f8" providerId="LiveId" clId="{C8E897B1-1C11-4474-A106-AD9E28844469}" dt="2026-09-11T19:47:28.624" v="2" actId="1076"/>
          <ac:spMkLst>
            <pc:docMk/>
            <pc:sldMk cId="0" sldId="256"/>
            <ac:spMk id="3" creationId="{00000000-0000-0000-0000-000000000000}"/>
          </ac:spMkLst>
        </pc:spChg>
      </pc:sldChg>
      <pc:sldChg chg="modSp mod">
        <pc:chgData name="盈慈 陳" userId="47c6c481c66a08f8" providerId="LiveId" clId="{C8E897B1-1C11-4474-A106-AD9E28844469}" dt="2026-09-11T19:47:39.923" v="13" actId="20577"/>
        <pc:sldMkLst>
          <pc:docMk/>
          <pc:sldMk cId="0" sldId="257"/>
        </pc:sldMkLst>
        <pc:spChg chg="mod">
          <ac:chgData name="盈慈 陳" userId="47c6c481c66a08f8" providerId="LiveId" clId="{C8E897B1-1C11-4474-A106-AD9E28844469}" dt="2026-09-11T19:47:36.028" v="3" actId="14100"/>
          <ac:spMkLst>
            <pc:docMk/>
            <pc:sldMk cId="0" sldId="257"/>
            <ac:spMk id="2" creationId="{00000000-0000-0000-0000-000000000000}"/>
          </ac:spMkLst>
        </pc:spChg>
        <pc:spChg chg="mod">
          <ac:chgData name="盈慈 陳" userId="47c6c481c66a08f8" providerId="LiveId" clId="{C8E897B1-1C11-4474-A106-AD9E28844469}" dt="2026-09-11T19:47:39.923" v="13" actId="20577"/>
          <ac:spMkLst>
            <pc:docMk/>
            <pc:sldMk cId="0" sldId="257"/>
            <ac:spMk id="3" creationId="{00000000-0000-0000-0000-000000000000}"/>
          </ac:spMkLst>
        </pc:spChg>
      </pc:sldChg>
      <pc:sldChg chg="modSp mod">
        <pc:chgData name="盈慈 陳" userId="47c6c481c66a08f8" providerId="LiveId" clId="{C8E897B1-1C11-4474-A106-AD9E28844469}" dt="2026-09-11T19:48:07.115" v="14" actId="14100"/>
        <pc:sldMkLst>
          <pc:docMk/>
          <pc:sldMk cId="0" sldId="259"/>
        </pc:sldMkLst>
        <pc:spChg chg="mod">
          <ac:chgData name="盈慈 陳" userId="47c6c481c66a08f8" providerId="LiveId" clId="{C8E897B1-1C11-4474-A106-AD9E28844469}" dt="2026-09-11T19:48:07.115" v="14" actId="14100"/>
          <ac:spMkLst>
            <pc:docMk/>
            <pc:sldMk cId="0" sldId="259"/>
            <ac:spMk id="2" creationId="{00000000-0000-0000-0000-000000000000}"/>
          </ac:spMkLst>
        </pc:spChg>
      </pc:sldChg>
      <pc:sldChg chg="modSp mod">
        <pc:chgData name="盈慈 陳" userId="47c6c481c66a08f8" providerId="LiveId" clId="{C8E897B1-1C11-4474-A106-AD9E28844469}" dt="2026-09-11T19:48:22.679" v="16" actId="1076"/>
        <pc:sldMkLst>
          <pc:docMk/>
          <pc:sldMk cId="0" sldId="260"/>
        </pc:sldMkLst>
        <pc:spChg chg="mod">
          <ac:chgData name="盈慈 陳" userId="47c6c481c66a08f8" providerId="LiveId" clId="{C8E897B1-1C11-4474-A106-AD9E28844469}" dt="2026-09-11T19:48:20.390" v="15" actId="1076"/>
          <ac:spMkLst>
            <pc:docMk/>
            <pc:sldMk cId="0" sldId="260"/>
            <ac:spMk id="13" creationId="{00000000-0000-0000-0000-000000000000}"/>
          </ac:spMkLst>
        </pc:spChg>
        <pc:spChg chg="mod">
          <ac:chgData name="盈慈 陳" userId="47c6c481c66a08f8" providerId="LiveId" clId="{C8E897B1-1C11-4474-A106-AD9E28844469}" dt="2026-09-11T19:48:22.679" v="16" actId="1076"/>
          <ac:spMkLst>
            <pc:docMk/>
            <pc:sldMk cId="0" sldId="260"/>
            <ac:spMk id="14" creationId="{00000000-0000-0000-0000-000000000000}"/>
          </ac:spMkLst>
        </pc:spChg>
      </pc:sldChg>
      <pc:sldChg chg="modSp mod">
        <pc:chgData name="盈慈 陳" userId="47c6c481c66a08f8" providerId="LiveId" clId="{C8E897B1-1C11-4474-A106-AD9E28844469}" dt="2026-09-11T19:48:52.244" v="18" actId="14100"/>
        <pc:sldMkLst>
          <pc:docMk/>
          <pc:sldMk cId="0" sldId="262"/>
        </pc:sldMkLst>
        <pc:spChg chg="mod">
          <ac:chgData name="盈慈 陳" userId="47c6c481c66a08f8" providerId="LiveId" clId="{C8E897B1-1C11-4474-A106-AD9E28844469}" dt="2026-09-11T19:48:52.244" v="18" actId="14100"/>
          <ac:spMkLst>
            <pc:docMk/>
            <pc:sldMk cId="0" sldId="262"/>
            <ac:spMk id="2" creationId="{00000000-0000-0000-0000-000000000000}"/>
          </ac:spMkLst>
        </pc:spChg>
        <pc:spChg chg="mod">
          <ac:chgData name="盈慈 陳" userId="47c6c481c66a08f8" providerId="LiveId" clId="{C8E897B1-1C11-4474-A106-AD9E28844469}" dt="2026-09-11T19:48:41.890" v="17" actId="1076"/>
          <ac:spMkLst>
            <pc:docMk/>
            <pc:sldMk cId="0" sldId="262"/>
            <ac:spMk id="3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1B268AA-7E60-4329-9C88-CD1A6530F53F}" type="datetimeFigureOut">
              <a:rPr lang="zh-TW" altLang="en-US" smtClean="0"/>
              <a:t>2026/10/1</a:t>
            </a:fld>
            <a:endParaRPr lang="zh-TW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C321458-D4A4-496E-8B11-EF917E5C2D6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499989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321458-D4A4-496E-8B11-EF917E5C2D67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1394767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321458-D4A4-496E-8B11-EF917E5C2D67}" type="slidenum">
              <a:rPr lang="zh-TW" altLang="en-US" smtClean="0"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3727662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321458-D4A4-496E-8B11-EF917E5C2D67}" type="slidenum">
              <a:rPr lang="zh-TW" altLang="en-US" smtClean="0"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6035064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321458-D4A4-496E-8B11-EF917E5C2D67}" type="slidenum">
              <a:rPr lang="zh-TW" altLang="en-US" smtClean="0"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7931115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321458-D4A4-496E-8B11-EF917E5C2D67}" type="slidenum">
              <a:rPr lang="zh-TW" altLang="en-US" smtClean="0"/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631888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321458-D4A4-496E-8B11-EF917E5C2D67}" type="slidenum">
              <a:rPr lang="zh-TW" altLang="en-US" smtClean="0"/>
              <a:t>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5895949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321458-D4A4-496E-8B11-EF917E5C2D67}" type="slidenum">
              <a:rPr lang="zh-TW" altLang="en-US" smtClean="0"/>
              <a:t>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9703569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321458-D4A4-496E-8B11-EF917E5C2D67}" type="slidenum">
              <a:rPr lang="zh-TW" altLang="en-US" smtClean="0"/>
              <a:t>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6477100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321458-D4A4-496E-8B11-EF917E5C2D67}" type="slidenum">
              <a:rPr lang="zh-TW" altLang="en-US" smtClean="0"/>
              <a:t>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8873133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321458-D4A4-496E-8B11-EF917E5C2D67}" type="slidenum">
              <a:rPr lang="zh-TW" altLang="en-US" smtClean="0"/>
              <a:t>10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280343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B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814197" y="2098361"/>
            <a:ext cx="13416403" cy="255813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440"/>
              </a:lnSpc>
            </a:pPr>
            <a:r>
              <a:rPr lang="en-US" sz="7457" b="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Chapter 1</a:t>
            </a:r>
            <a:r>
              <a:rPr lang="en-US" altLang="zh-TW" sz="7457" b="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2</a:t>
            </a:r>
            <a:endParaRPr lang="en-US" sz="7457" b="1" dirty="0">
              <a:solidFill>
                <a:srgbClr val="FFFFFF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  <a:p>
            <a:pPr algn="ctr">
              <a:lnSpc>
                <a:spcPts val="10440"/>
              </a:lnSpc>
            </a:pPr>
            <a:r>
              <a:rPr lang="en-US" sz="7457" b="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How to Work with Dictionaries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4724400" y="5206655"/>
            <a:ext cx="8514556" cy="6915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459"/>
              </a:lnSpc>
            </a:pPr>
            <a:r>
              <a:rPr lang="en-US" sz="3899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Murach’s Python Programming - Section 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895350"/>
            <a:ext cx="7962900" cy="82355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 b="1" dirty="0">
                <a:solidFill>
                  <a:srgbClr val="000B3D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How to Create a Dictionary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28700" y="2632075"/>
            <a:ext cx="6789966" cy="4927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</a:pPr>
            <a:endParaRPr lang="en-US" sz="3999" dirty="0">
              <a:solidFill>
                <a:srgbClr val="000B3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863596" lvl="1" indent="-431798" algn="l">
              <a:lnSpc>
                <a:spcPts val="5599"/>
              </a:lnSpc>
              <a:buFont typeface="Arial"/>
              <a:buChar char="•"/>
            </a:pPr>
            <a:r>
              <a:rPr lang="en-US" sz="3999" dirty="0">
                <a:solidFill>
                  <a:srgbClr val="000B3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dictionary stores data in key-value pairs</a:t>
            </a:r>
          </a:p>
          <a:p>
            <a:pPr marL="863596" lvl="1" indent="-431798" algn="l">
              <a:lnSpc>
                <a:spcPts val="5599"/>
              </a:lnSpc>
              <a:buFont typeface="Arial"/>
              <a:buChar char="•"/>
            </a:pPr>
            <a:r>
              <a:rPr lang="en-US" sz="3999" dirty="0">
                <a:solidFill>
                  <a:srgbClr val="000B3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Dictionaries use { }</a:t>
            </a:r>
          </a:p>
          <a:p>
            <a:pPr marL="863596" lvl="1" indent="-431798" algn="l">
              <a:lnSpc>
                <a:spcPts val="5599"/>
              </a:lnSpc>
              <a:buFont typeface="Arial"/>
              <a:buChar char="•"/>
            </a:pPr>
            <a:r>
              <a:rPr lang="en-US" sz="3999" dirty="0">
                <a:solidFill>
                  <a:srgbClr val="000B3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Each key is associated with a value</a:t>
            </a:r>
          </a:p>
          <a:p>
            <a:pPr algn="just">
              <a:lnSpc>
                <a:spcPts val="5599"/>
              </a:lnSpc>
            </a:pPr>
            <a:endParaRPr lang="en-US" sz="3999" dirty="0">
              <a:solidFill>
                <a:srgbClr val="000B3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4" name="Group 4"/>
          <p:cNvGrpSpPr/>
          <p:nvPr/>
        </p:nvGrpSpPr>
        <p:grpSpPr>
          <a:xfrm>
            <a:off x="9820106" y="5143500"/>
            <a:ext cx="7439194" cy="4114800"/>
            <a:chOff x="0" y="0"/>
            <a:chExt cx="1959294" cy="1083733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959294" cy="1083733"/>
            </a:xfrm>
            <a:custGeom>
              <a:avLst/>
              <a:gdLst/>
              <a:ahLst/>
              <a:cxnLst/>
              <a:rect l="l" t="t" r="r" b="b"/>
              <a:pathLst>
                <a:path w="1959294" h="1083733">
                  <a:moveTo>
                    <a:pt x="53075" y="0"/>
                  </a:moveTo>
                  <a:lnTo>
                    <a:pt x="1906219" y="0"/>
                  </a:lnTo>
                  <a:cubicBezTo>
                    <a:pt x="1920295" y="0"/>
                    <a:pt x="1933795" y="5592"/>
                    <a:pt x="1943749" y="15545"/>
                  </a:cubicBezTo>
                  <a:cubicBezTo>
                    <a:pt x="1953702" y="25499"/>
                    <a:pt x="1959294" y="38999"/>
                    <a:pt x="1959294" y="53075"/>
                  </a:cubicBezTo>
                  <a:lnTo>
                    <a:pt x="1959294" y="1030658"/>
                  </a:lnTo>
                  <a:cubicBezTo>
                    <a:pt x="1959294" y="1044734"/>
                    <a:pt x="1953702" y="1058234"/>
                    <a:pt x="1943749" y="1068188"/>
                  </a:cubicBezTo>
                  <a:cubicBezTo>
                    <a:pt x="1933795" y="1078142"/>
                    <a:pt x="1920295" y="1083733"/>
                    <a:pt x="1906219" y="1083733"/>
                  </a:cubicBezTo>
                  <a:lnTo>
                    <a:pt x="53075" y="1083733"/>
                  </a:lnTo>
                  <a:cubicBezTo>
                    <a:pt x="23763" y="1083733"/>
                    <a:pt x="0" y="1059971"/>
                    <a:pt x="0" y="1030658"/>
                  </a:cubicBezTo>
                  <a:lnTo>
                    <a:pt x="0" y="53075"/>
                  </a:lnTo>
                  <a:cubicBezTo>
                    <a:pt x="0" y="38999"/>
                    <a:pt x="5592" y="25499"/>
                    <a:pt x="15545" y="15545"/>
                  </a:cubicBezTo>
                  <a:cubicBezTo>
                    <a:pt x="25499" y="5592"/>
                    <a:pt x="38999" y="0"/>
                    <a:pt x="53075" y="0"/>
                  </a:cubicBezTo>
                  <a:close/>
                </a:path>
              </a:pathLst>
            </a:custGeom>
            <a:solidFill>
              <a:srgbClr val="000B3D"/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57150"/>
              <a:ext cx="1959294" cy="11408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9820106" y="742663"/>
            <a:ext cx="7439194" cy="4114800"/>
            <a:chOff x="0" y="0"/>
            <a:chExt cx="1959294" cy="1083733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959294" cy="1083733"/>
            </a:xfrm>
            <a:custGeom>
              <a:avLst/>
              <a:gdLst/>
              <a:ahLst/>
              <a:cxnLst/>
              <a:rect l="l" t="t" r="r" b="b"/>
              <a:pathLst>
                <a:path w="1959294" h="1083733">
                  <a:moveTo>
                    <a:pt x="53075" y="0"/>
                  </a:moveTo>
                  <a:lnTo>
                    <a:pt x="1906219" y="0"/>
                  </a:lnTo>
                  <a:cubicBezTo>
                    <a:pt x="1920295" y="0"/>
                    <a:pt x="1933795" y="5592"/>
                    <a:pt x="1943749" y="15545"/>
                  </a:cubicBezTo>
                  <a:cubicBezTo>
                    <a:pt x="1953702" y="25499"/>
                    <a:pt x="1959294" y="38999"/>
                    <a:pt x="1959294" y="53075"/>
                  </a:cubicBezTo>
                  <a:lnTo>
                    <a:pt x="1959294" y="1030658"/>
                  </a:lnTo>
                  <a:cubicBezTo>
                    <a:pt x="1959294" y="1044734"/>
                    <a:pt x="1953702" y="1058234"/>
                    <a:pt x="1943749" y="1068188"/>
                  </a:cubicBezTo>
                  <a:cubicBezTo>
                    <a:pt x="1933795" y="1078142"/>
                    <a:pt x="1920295" y="1083733"/>
                    <a:pt x="1906219" y="1083733"/>
                  </a:cubicBezTo>
                  <a:lnTo>
                    <a:pt x="53075" y="1083733"/>
                  </a:lnTo>
                  <a:cubicBezTo>
                    <a:pt x="23763" y="1083733"/>
                    <a:pt x="0" y="1059971"/>
                    <a:pt x="0" y="1030658"/>
                  </a:cubicBezTo>
                  <a:lnTo>
                    <a:pt x="0" y="53075"/>
                  </a:lnTo>
                  <a:cubicBezTo>
                    <a:pt x="0" y="38999"/>
                    <a:pt x="5592" y="25499"/>
                    <a:pt x="15545" y="15545"/>
                  </a:cubicBezTo>
                  <a:cubicBezTo>
                    <a:pt x="25499" y="5592"/>
                    <a:pt x="38999" y="0"/>
                    <a:pt x="53075" y="0"/>
                  </a:cubicBezTo>
                  <a:close/>
                </a:path>
              </a:pathLst>
            </a:custGeom>
            <a:solidFill>
              <a:srgbClr val="000B3D"/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57150"/>
              <a:ext cx="1959294" cy="11408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10845218" y="1257331"/>
            <a:ext cx="5388970" cy="29997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countries = {</a:t>
            </a:r>
          </a:p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"US": "United States",</a:t>
            </a:r>
          </a:p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"CA": "Canada",</a:t>
            </a:r>
          </a:p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"MX": "Mexico"</a:t>
            </a:r>
          </a:p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182958" y="5977255"/>
            <a:ext cx="4713490" cy="23806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759"/>
              </a:lnSpc>
            </a:pPr>
            <a:r>
              <a:rPr lang="en-US" sz="3399">
                <a:solidFill>
                  <a:srgbClr val="FFFFFF"/>
                </a:solidFill>
                <a:latin typeface="Noto Sans T Chinese"/>
                <a:ea typeface="Noto Sans T Chinese"/>
                <a:cs typeface="Noto Sans T Chinese"/>
                <a:sym typeface="Noto Sans T Chinese"/>
              </a:rPr>
              <a:t>Key        Value</a:t>
            </a:r>
          </a:p>
          <a:p>
            <a:pPr algn="just">
              <a:lnSpc>
                <a:spcPts val="4759"/>
              </a:lnSpc>
            </a:pPr>
            <a:r>
              <a:rPr lang="en-US" sz="3399">
                <a:solidFill>
                  <a:srgbClr val="FFFFFF"/>
                </a:solidFill>
                <a:latin typeface="Noto Sans T Chinese"/>
                <a:ea typeface="Noto Sans T Chinese"/>
                <a:cs typeface="Noto Sans T Chinese"/>
                <a:sym typeface="Noto Sans T Chinese"/>
              </a:rPr>
              <a:t>US    →    United States</a:t>
            </a:r>
          </a:p>
          <a:p>
            <a:pPr algn="just">
              <a:lnSpc>
                <a:spcPts val="4759"/>
              </a:lnSpc>
            </a:pPr>
            <a:r>
              <a:rPr lang="en-US" sz="3399">
                <a:solidFill>
                  <a:srgbClr val="FFFFFF"/>
                </a:solidFill>
                <a:latin typeface="Noto Sans T Chinese"/>
                <a:ea typeface="Noto Sans T Chinese"/>
                <a:cs typeface="Noto Sans T Chinese"/>
                <a:sym typeface="Noto Sans T Chinese"/>
              </a:rPr>
              <a:t>CA    →    Canada</a:t>
            </a:r>
          </a:p>
          <a:p>
            <a:pPr algn="just">
              <a:lnSpc>
                <a:spcPts val="4759"/>
              </a:lnSpc>
            </a:pPr>
            <a:r>
              <a:rPr lang="en-US" sz="3399">
                <a:solidFill>
                  <a:srgbClr val="FFFFFF"/>
                </a:solidFill>
                <a:latin typeface="Noto Sans T Chinese"/>
                <a:ea typeface="Noto Sans T Chinese"/>
                <a:cs typeface="Noto Sans T Chinese"/>
                <a:sym typeface="Noto Sans T Chinese"/>
              </a:rPr>
              <a:t>MX    →    Mexico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1190042" y="2560320"/>
            <a:ext cx="6456363" cy="892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 b="1">
                <a:solidFill>
                  <a:srgbClr val="000B3D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Get, Set, and Add Items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1023241" y="4304473"/>
            <a:ext cx="6789966" cy="2108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5599"/>
              </a:lnSpc>
            </a:pPr>
            <a:r>
              <a:rPr lang="en-US" sz="3999">
                <a:solidFill>
                  <a:srgbClr val="000B3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Key Point:</a:t>
            </a:r>
          </a:p>
          <a:p>
            <a:pPr algn="just">
              <a:lnSpc>
                <a:spcPts val="5599"/>
              </a:lnSpc>
            </a:pPr>
            <a:r>
              <a:rPr lang="en-US" sz="3999">
                <a:solidFill>
                  <a:srgbClr val="000B3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Existing key → update the value</a:t>
            </a:r>
          </a:p>
          <a:p>
            <a:pPr algn="just">
              <a:lnSpc>
                <a:spcPts val="5599"/>
              </a:lnSpc>
            </a:pPr>
            <a:r>
              <a:rPr lang="en-US" sz="3999">
                <a:solidFill>
                  <a:srgbClr val="000B3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New key → add a new item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1028700" y="2113756"/>
            <a:ext cx="9694611" cy="1404938"/>
            <a:chOff x="0" y="0"/>
            <a:chExt cx="2553313" cy="370025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553313" cy="370025"/>
            </a:xfrm>
            <a:custGeom>
              <a:avLst/>
              <a:gdLst/>
              <a:ahLst/>
              <a:cxnLst/>
              <a:rect l="l" t="t" r="r" b="b"/>
              <a:pathLst>
                <a:path w="2553313" h="370025">
                  <a:moveTo>
                    <a:pt x="40728" y="0"/>
                  </a:moveTo>
                  <a:lnTo>
                    <a:pt x="2512586" y="0"/>
                  </a:lnTo>
                  <a:cubicBezTo>
                    <a:pt x="2523387" y="0"/>
                    <a:pt x="2533747" y="4291"/>
                    <a:pt x="2541384" y="11929"/>
                  </a:cubicBezTo>
                  <a:cubicBezTo>
                    <a:pt x="2549022" y="19567"/>
                    <a:pt x="2553313" y="29926"/>
                    <a:pt x="2553313" y="40728"/>
                  </a:cubicBezTo>
                  <a:lnTo>
                    <a:pt x="2553313" y="329297"/>
                  </a:lnTo>
                  <a:cubicBezTo>
                    <a:pt x="2553313" y="351790"/>
                    <a:pt x="2535079" y="370025"/>
                    <a:pt x="2512586" y="370025"/>
                  </a:cubicBezTo>
                  <a:lnTo>
                    <a:pt x="40728" y="370025"/>
                  </a:lnTo>
                  <a:cubicBezTo>
                    <a:pt x="29926" y="370025"/>
                    <a:pt x="19567" y="365734"/>
                    <a:pt x="11929" y="358096"/>
                  </a:cubicBezTo>
                  <a:cubicBezTo>
                    <a:pt x="4291" y="350458"/>
                    <a:pt x="0" y="340099"/>
                    <a:pt x="0" y="329297"/>
                  </a:cubicBezTo>
                  <a:lnTo>
                    <a:pt x="0" y="40728"/>
                  </a:lnTo>
                  <a:cubicBezTo>
                    <a:pt x="0" y="29926"/>
                    <a:pt x="4291" y="19567"/>
                    <a:pt x="11929" y="11929"/>
                  </a:cubicBezTo>
                  <a:cubicBezTo>
                    <a:pt x="19567" y="4291"/>
                    <a:pt x="29926" y="0"/>
                    <a:pt x="40728" y="0"/>
                  </a:cubicBezTo>
                  <a:close/>
                </a:path>
              </a:pathLst>
            </a:custGeom>
            <a:solidFill>
              <a:srgbClr val="000B3D"/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57150"/>
              <a:ext cx="2553313" cy="4271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2064487" y="2473642"/>
            <a:ext cx="5236169" cy="5994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country = countries["US"]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1028700" y="5007736"/>
            <a:ext cx="9694611" cy="1404938"/>
            <a:chOff x="0" y="0"/>
            <a:chExt cx="2553313" cy="370025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553313" cy="370025"/>
            </a:xfrm>
            <a:custGeom>
              <a:avLst/>
              <a:gdLst/>
              <a:ahLst/>
              <a:cxnLst/>
              <a:rect l="l" t="t" r="r" b="b"/>
              <a:pathLst>
                <a:path w="2553313" h="370025">
                  <a:moveTo>
                    <a:pt x="40728" y="0"/>
                  </a:moveTo>
                  <a:lnTo>
                    <a:pt x="2512586" y="0"/>
                  </a:lnTo>
                  <a:cubicBezTo>
                    <a:pt x="2523387" y="0"/>
                    <a:pt x="2533747" y="4291"/>
                    <a:pt x="2541384" y="11929"/>
                  </a:cubicBezTo>
                  <a:cubicBezTo>
                    <a:pt x="2549022" y="19567"/>
                    <a:pt x="2553313" y="29926"/>
                    <a:pt x="2553313" y="40728"/>
                  </a:cubicBezTo>
                  <a:lnTo>
                    <a:pt x="2553313" y="329297"/>
                  </a:lnTo>
                  <a:cubicBezTo>
                    <a:pt x="2553313" y="351790"/>
                    <a:pt x="2535079" y="370025"/>
                    <a:pt x="2512586" y="370025"/>
                  </a:cubicBezTo>
                  <a:lnTo>
                    <a:pt x="40728" y="370025"/>
                  </a:lnTo>
                  <a:cubicBezTo>
                    <a:pt x="29926" y="370025"/>
                    <a:pt x="19567" y="365734"/>
                    <a:pt x="11929" y="358096"/>
                  </a:cubicBezTo>
                  <a:cubicBezTo>
                    <a:pt x="4291" y="350458"/>
                    <a:pt x="0" y="340099"/>
                    <a:pt x="0" y="329297"/>
                  </a:cubicBezTo>
                  <a:lnTo>
                    <a:pt x="0" y="40728"/>
                  </a:lnTo>
                  <a:cubicBezTo>
                    <a:pt x="0" y="29926"/>
                    <a:pt x="4291" y="19567"/>
                    <a:pt x="11929" y="11929"/>
                  </a:cubicBezTo>
                  <a:cubicBezTo>
                    <a:pt x="19567" y="4291"/>
                    <a:pt x="29926" y="0"/>
                    <a:pt x="40728" y="0"/>
                  </a:cubicBezTo>
                  <a:close/>
                </a:path>
              </a:pathLst>
            </a:custGeom>
            <a:solidFill>
              <a:srgbClr val="000B3D"/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57150"/>
              <a:ext cx="2553313" cy="4271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1846807" y="5343446"/>
            <a:ext cx="8058397" cy="5994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countries["US"] = "United States of America"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1028700" y="7853362"/>
            <a:ext cx="9694611" cy="1404938"/>
            <a:chOff x="0" y="0"/>
            <a:chExt cx="2553313" cy="370025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553313" cy="370025"/>
            </a:xfrm>
            <a:custGeom>
              <a:avLst/>
              <a:gdLst/>
              <a:ahLst/>
              <a:cxnLst/>
              <a:rect l="l" t="t" r="r" b="b"/>
              <a:pathLst>
                <a:path w="2553313" h="370025">
                  <a:moveTo>
                    <a:pt x="40728" y="0"/>
                  </a:moveTo>
                  <a:lnTo>
                    <a:pt x="2512586" y="0"/>
                  </a:lnTo>
                  <a:cubicBezTo>
                    <a:pt x="2523387" y="0"/>
                    <a:pt x="2533747" y="4291"/>
                    <a:pt x="2541384" y="11929"/>
                  </a:cubicBezTo>
                  <a:cubicBezTo>
                    <a:pt x="2549022" y="19567"/>
                    <a:pt x="2553313" y="29926"/>
                    <a:pt x="2553313" y="40728"/>
                  </a:cubicBezTo>
                  <a:lnTo>
                    <a:pt x="2553313" y="329297"/>
                  </a:lnTo>
                  <a:cubicBezTo>
                    <a:pt x="2553313" y="351790"/>
                    <a:pt x="2535079" y="370025"/>
                    <a:pt x="2512586" y="370025"/>
                  </a:cubicBezTo>
                  <a:lnTo>
                    <a:pt x="40728" y="370025"/>
                  </a:lnTo>
                  <a:cubicBezTo>
                    <a:pt x="29926" y="370025"/>
                    <a:pt x="19567" y="365734"/>
                    <a:pt x="11929" y="358096"/>
                  </a:cubicBezTo>
                  <a:cubicBezTo>
                    <a:pt x="4291" y="350458"/>
                    <a:pt x="0" y="340099"/>
                    <a:pt x="0" y="329297"/>
                  </a:cubicBezTo>
                  <a:lnTo>
                    <a:pt x="0" y="40728"/>
                  </a:lnTo>
                  <a:cubicBezTo>
                    <a:pt x="0" y="29926"/>
                    <a:pt x="4291" y="19567"/>
                    <a:pt x="11929" y="11929"/>
                  </a:cubicBezTo>
                  <a:cubicBezTo>
                    <a:pt x="19567" y="4291"/>
                    <a:pt x="29926" y="0"/>
                    <a:pt x="40728" y="0"/>
                  </a:cubicBezTo>
                  <a:close/>
                </a:path>
              </a:pathLst>
            </a:custGeom>
            <a:solidFill>
              <a:srgbClr val="000B3D"/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57150"/>
              <a:ext cx="2553313" cy="4271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1846807" y="8213249"/>
            <a:ext cx="8058397" cy="5994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countries["JP"] = "Japan"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287588" y="933450"/>
            <a:ext cx="6789966" cy="698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>
                <a:solidFill>
                  <a:srgbClr val="000B3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Get an item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287588" y="4077057"/>
            <a:ext cx="6789966" cy="698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>
                <a:solidFill>
                  <a:srgbClr val="000B3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Set an item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287588" y="6974649"/>
            <a:ext cx="6789966" cy="698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>
                <a:solidFill>
                  <a:srgbClr val="000B3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Add an item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197060" y="895350"/>
            <a:ext cx="4163097" cy="82355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 b="1" dirty="0">
                <a:solidFill>
                  <a:srgbClr val="000B3D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Delete Items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197061" y="2625248"/>
            <a:ext cx="4163098" cy="1403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5599"/>
              </a:lnSpc>
            </a:pPr>
            <a:r>
              <a:rPr lang="en-US" sz="3999">
                <a:solidFill>
                  <a:srgbClr val="000B3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del removes a key-value pair.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7057986" y="2928937"/>
            <a:ext cx="9694611" cy="1404938"/>
            <a:chOff x="0" y="0"/>
            <a:chExt cx="2553313" cy="370025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553313" cy="370025"/>
            </a:xfrm>
            <a:custGeom>
              <a:avLst/>
              <a:gdLst/>
              <a:ahLst/>
              <a:cxnLst/>
              <a:rect l="l" t="t" r="r" b="b"/>
              <a:pathLst>
                <a:path w="2553313" h="370025">
                  <a:moveTo>
                    <a:pt x="40728" y="0"/>
                  </a:moveTo>
                  <a:lnTo>
                    <a:pt x="2512586" y="0"/>
                  </a:lnTo>
                  <a:cubicBezTo>
                    <a:pt x="2523387" y="0"/>
                    <a:pt x="2533747" y="4291"/>
                    <a:pt x="2541384" y="11929"/>
                  </a:cubicBezTo>
                  <a:cubicBezTo>
                    <a:pt x="2549022" y="19567"/>
                    <a:pt x="2553313" y="29926"/>
                    <a:pt x="2553313" y="40728"/>
                  </a:cubicBezTo>
                  <a:lnTo>
                    <a:pt x="2553313" y="329297"/>
                  </a:lnTo>
                  <a:cubicBezTo>
                    <a:pt x="2553313" y="351790"/>
                    <a:pt x="2535079" y="370025"/>
                    <a:pt x="2512586" y="370025"/>
                  </a:cubicBezTo>
                  <a:lnTo>
                    <a:pt x="40728" y="370025"/>
                  </a:lnTo>
                  <a:cubicBezTo>
                    <a:pt x="29926" y="370025"/>
                    <a:pt x="19567" y="365734"/>
                    <a:pt x="11929" y="358096"/>
                  </a:cubicBezTo>
                  <a:cubicBezTo>
                    <a:pt x="4291" y="350458"/>
                    <a:pt x="0" y="340099"/>
                    <a:pt x="0" y="329297"/>
                  </a:cubicBezTo>
                  <a:lnTo>
                    <a:pt x="0" y="40728"/>
                  </a:lnTo>
                  <a:cubicBezTo>
                    <a:pt x="0" y="29926"/>
                    <a:pt x="4291" y="19567"/>
                    <a:pt x="11929" y="11929"/>
                  </a:cubicBezTo>
                  <a:cubicBezTo>
                    <a:pt x="19567" y="4291"/>
                    <a:pt x="29926" y="0"/>
                    <a:pt x="40728" y="0"/>
                  </a:cubicBezTo>
                  <a:close/>
                </a:path>
              </a:pathLst>
            </a:custGeom>
            <a:solidFill>
              <a:srgbClr val="000B3D"/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57150"/>
              <a:ext cx="2553313" cy="4271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8093773" y="3288823"/>
            <a:ext cx="5236169" cy="5994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del countries["MX"]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7057986" y="5822917"/>
            <a:ext cx="4498392" cy="3145840"/>
            <a:chOff x="0" y="0"/>
            <a:chExt cx="1184762" cy="828534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184762" cy="828534"/>
            </a:xfrm>
            <a:custGeom>
              <a:avLst/>
              <a:gdLst/>
              <a:ahLst/>
              <a:cxnLst/>
              <a:rect l="l" t="t" r="r" b="b"/>
              <a:pathLst>
                <a:path w="1184762" h="828534">
                  <a:moveTo>
                    <a:pt x="87773" y="0"/>
                  </a:moveTo>
                  <a:lnTo>
                    <a:pt x="1096988" y="0"/>
                  </a:lnTo>
                  <a:cubicBezTo>
                    <a:pt x="1120267" y="0"/>
                    <a:pt x="1142593" y="9247"/>
                    <a:pt x="1159053" y="25708"/>
                  </a:cubicBezTo>
                  <a:cubicBezTo>
                    <a:pt x="1175514" y="42169"/>
                    <a:pt x="1184762" y="64494"/>
                    <a:pt x="1184762" y="87773"/>
                  </a:cubicBezTo>
                  <a:lnTo>
                    <a:pt x="1184762" y="740761"/>
                  </a:lnTo>
                  <a:cubicBezTo>
                    <a:pt x="1184762" y="764040"/>
                    <a:pt x="1175514" y="786365"/>
                    <a:pt x="1159053" y="802826"/>
                  </a:cubicBezTo>
                  <a:cubicBezTo>
                    <a:pt x="1142593" y="819286"/>
                    <a:pt x="1120267" y="828534"/>
                    <a:pt x="1096988" y="828534"/>
                  </a:cubicBezTo>
                  <a:lnTo>
                    <a:pt x="87773" y="828534"/>
                  </a:lnTo>
                  <a:cubicBezTo>
                    <a:pt x="64494" y="828534"/>
                    <a:pt x="42169" y="819286"/>
                    <a:pt x="25708" y="802826"/>
                  </a:cubicBezTo>
                  <a:cubicBezTo>
                    <a:pt x="9247" y="786365"/>
                    <a:pt x="0" y="764040"/>
                    <a:pt x="0" y="740761"/>
                  </a:cubicBezTo>
                  <a:lnTo>
                    <a:pt x="0" y="87773"/>
                  </a:lnTo>
                  <a:cubicBezTo>
                    <a:pt x="0" y="64494"/>
                    <a:pt x="9247" y="42169"/>
                    <a:pt x="25708" y="25708"/>
                  </a:cubicBezTo>
                  <a:cubicBezTo>
                    <a:pt x="42169" y="9247"/>
                    <a:pt x="64494" y="0"/>
                    <a:pt x="87773" y="0"/>
                  </a:cubicBezTo>
                  <a:close/>
                </a:path>
              </a:pathLst>
            </a:custGeom>
            <a:solidFill>
              <a:srgbClr val="000B3D"/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57150"/>
              <a:ext cx="1184762" cy="88568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7467039" y="6428938"/>
            <a:ext cx="3680285" cy="17995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 → United States CA → Canada</a:t>
            </a:r>
          </a:p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MX → Mexico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316874" y="1748631"/>
            <a:ext cx="6789966" cy="698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3999">
                <a:solidFill>
                  <a:srgbClr val="000B3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del：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316874" y="4892238"/>
            <a:ext cx="6789966" cy="698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3999">
                <a:solidFill>
                  <a:srgbClr val="000B3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Before: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2563173" y="4892238"/>
            <a:ext cx="3087334" cy="698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3999">
                <a:solidFill>
                  <a:srgbClr val="000B3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After: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12254205" y="5822917"/>
            <a:ext cx="4498392" cy="3145840"/>
            <a:chOff x="0" y="0"/>
            <a:chExt cx="1184762" cy="828534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184762" cy="828534"/>
            </a:xfrm>
            <a:custGeom>
              <a:avLst/>
              <a:gdLst/>
              <a:ahLst/>
              <a:cxnLst/>
              <a:rect l="l" t="t" r="r" b="b"/>
              <a:pathLst>
                <a:path w="1184762" h="828534">
                  <a:moveTo>
                    <a:pt x="87773" y="0"/>
                  </a:moveTo>
                  <a:lnTo>
                    <a:pt x="1096988" y="0"/>
                  </a:lnTo>
                  <a:cubicBezTo>
                    <a:pt x="1120267" y="0"/>
                    <a:pt x="1142593" y="9247"/>
                    <a:pt x="1159053" y="25708"/>
                  </a:cubicBezTo>
                  <a:cubicBezTo>
                    <a:pt x="1175514" y="42169"/>
                    <a:pt x="1184762" y="64494"/>
                    <a:pt x="1184762" y="87773"/>
                  </a:cubicBezTo>
                  <a:lnTo>
                    <a:pt x="1184762" y="740761"/>
                  </a:lnTo>
                  <a:cubicBezTo>
                    <a:pt x="1184762" y="764040"/>
                    <a:pt x="1175514" y="786365"/>
                    <a:pt x="1159053" y="802826"/>
                  </a:cubicBezTo>
                  <a:cubicBezTo>
                    <a:pt x="1142593" y="819286"/>
                    <a:pt x="1120267" y="828534"/>
                    <a:pt x="1096988" y="828534"/>
                  </a:cubicBezTo>
                  <a:lnTo>
                    <a:pt x="87773" y="828534"/>
                  </a:lnTo>
                  <a:cubicBezTo>
                    <a:pt x="64494" y="828534"/>
                    <a:pt x="42169" y="819286"/>
                    <a:pt x="25708" y="802826"/>
                  </a:cubicBezTo>
                  <a:cubicBezTo>
                    <a:pt x="9247" y="786365"/>
                    <a:pt x="0" y="764040"/>
                    <a:pt x="0" y="740761"/>
                  </a:cubicBezTo>
                  <a:lnTo>
                    <a:pt x="0" y="87773"/>
                  </a:lnTo>
                  <a:cubicBezTo>
                    <a:pt x="0" y="64494"/>
                    <a:pt x="9247" y="42169"/>
                    <a:pt x="25708" y="25708"/>
                  </a:cubicBezTo>
                  <a:cubicBezTo>
                    <a:pt x="42169" y="9247"/>
                    <a:pt x="64494" y="0"/>
                    <a:pt x="87773" y="0"/>
                  </a:cubicBezTo>
                  <a:close/>
                </a:path>
              </a:pathLst>
            </a:custGeom>
            <a:solidFill>
              <a:srgbClr val="000B3D"/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57150"/>
              <a:ext cx="1184762" cy="88568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12642113" y="6600388"/>
            <a:ext cx="3722574" cy="11995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 → United States</a:t>
            </a:r>
          </a:p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 → Canada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073654" y="794623"/>
            <a:ext cx="7739553" cy="1778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 b="1" dirty="0">
                <a:solidFill>
                  <a:srgbClr val="000B3D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Loop Through Keys and Values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873134" y="3146425"/>
            <a:ext cx="6789966" cy="1403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5599"/>
              </a:lnSpc>
            </a:pPr>
            <a:r>
              <a:rPr lang="en-US" sz="3999">
                <a:solidFill>
                  <a:srgbClr val="000B3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.items() provides both the key and value.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1028700" y="2308569"/>
            <a:ext cx="8876504" cy="2480702"/>
            <a:chOff x="0" y="0"/>
            <a:chExt cx="2337845" cy="653354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337845" cy="653354"/>
            </a:xfrm>
            <a:custGeom>
              <a:avLst/>
              <a:gdLst/>
              <a:ahLst/>
              <a:cxnLst/>
              <a:rect l="l" t="t" r="r" b="b"/>
              <a:pathLst>
                <a:path w="2337845" h="653354">
                  <a:moveTo>
                    <a:pt x="44481" y="0"/>
                  </a:moveTo>
                  <a:lnTo>
                    <a:pt x="2293364" y="0"/>
                  </a:lnTo>
                  <a:cubicBezTo>
                    <a:pt x="2317930" y="0"/>
                    <a:pt x="2337845" y="19915"/>
                    <a:pt x="2337845" y="44481"/>
                  </a:cubicBezTo>
                  <a:lnTo>
                    <a:pt x="2337845" y="608872"/>
                  </a:lnTo>
                  <a:cubicBezTo>
                    <a:pt x="2337845" y="620670"/>
                    <a:pt x="2333158" y="631984"/>
                    <a:pt x="2324816" y="640325"/>
                  </a:cubicBezTo>
                  <a:cubicBezTo>
                    <a:pt x="2316475" y="648667"/>
                    <a:pt x="2305161" y="653354"/>
                    <a:pt x="2293364" y="653354"/>
                  </a:cubicBezTo>
                  <a:lnTo>
                    <a:pt x="44481" y="653354"/>
                  </a:lnTo>
                  <a:cubicBezTo>
                    <a:pt x="19915" y="653354"/>
                    <a:pt x="0" y="633439"/>
                    <a:pt x="0" y="608872"/>
                  </a:cubicBezTo>
                  <a:lnTo>
                    <a:pt x="0" y="44481"/>
                  </a:lnTo>
                  <a:cubicBezTo>
                    <a:pt x="0" y="19915"/>
                    <a:pt x="19915" y="0"/>
                    <a:pt x="44481" y="0"/>
                  </a:cubicBezTo>
                  <a:close/>
                </a:path>
              </a:pathLst>
            </a:custGeom>
            <a:solidFill>
              <a:srgbClr val="000B3D"/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57150"/>
              <a:ext cx="2337845" cy="71050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1437753" y="2651125"/>
            <a:ext cx="5236169" cy="1244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00"/>
              </a:lnSpc>
            </a:pPr>
            <a:r>
              <a:rPr lang="en-US" sz="35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 code in countries:</a:t>
            </a:r>
          </a:p>
          <a:p>
            <a:pPr algn="l">
              <a:lnSpc>
                <a:spcPts val="4900"/>
              </a:lnSpc>
            </a:pPr>
            <a:r>
              <a:rPr lang="en-US" sz="35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print(code)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11142107" y="6168859"/>
            <a:ext cx="6252019" cy="3556467"/>
            <a:chOff x="0" y="0"/>
            <a:chExt cx="1646622" cy="936683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646622" cy="936683"/>
            </a:xfrm>
            <a:custGeom>
              <a:avLst/>
              <a:gdLst/>
              <a:ahLst/>
              <a:cxnLst/>
              <a:rect l="l" t="t" r="r" b="b"/>
              <a:pathLst>
                <a:path w="1646622" h="936683">
                  <a:moveTo>
                    <a:pt x="63154" y="0"/>
                  </a:moveTo>
                  <a:lnTo>
                    <a:pt x="1583469" y="0"/>
                  </a:lnTo>
                  <a:cubicBezTo>
                    <a:pt x="1600218" y="0"/>
                    <a:pt x="1616281" y="6654"/>
                    <a:pt x="1628125" y="18497"/>
                  </a:cubicBezTo>
                  <a:cubicBezTo>
                    <a:pt x="1639969" y="30341"/>
                    <a:pt x="1646622" y="46404"/>
                    <a:pt x="1646622" y="63154"/>
                  </a:cubicBezTo>
                  <a:lnTo>
                    <a:pt x="1646622" y="873529"/>
                  </a:lnTo>
                  <a:cubicBezTo>
                    <a:pt x="1646622" y="908408"/>
                    <a:pt x="1618348" y="936683"/>
                    <a:pt x="1583469" y="936683"/>
                  </a:cubicBezTo>
                  <a:lnTo>
                    <a:pt x="63154" y="936683"/>
                  </a:lnTo>
                  <a:cubicBezTo>
                    <a:pt x="28275" y="936683"/>
                    <a:pt x="0" y="908408"/>
                    <a:pt x="0" y="873529"/>
                  </a:cubicBezTo>
                  <a:lnTo>
                    <a:pt x="0" y="63154"/>
                  </a:lnTo>
                  <a:cubicBezTo>
                    <a:pt x="0" y="28275"/>
                    <a:pt x="28275" y="0"/>
                    <a:pt x="63154" y="0"/>
                  </a:cubicBezTo>
                  <a:close/>
                </a:path>
              </a:pathLst>
            </a:custGeom>
            <a:solidFill>
              <a:srgbClr val="000B3D"/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57150"/>
              <a:ext cx="1646622" cy="9938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11915654" y="6814726"/>
            <a:ext cx="4055552" cy="19729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179"/>
              </a:lnSpc>
            </a:pPr>
            <a:r>
              <a:rPr lang="en-US" sz="3699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 United States </a:t>
            </a:r>
          </a:p>
          <a:p>
            <a:pPr algn="l">
              <a:lnSpc>
                <a:spcPts val="5179"/>
              </a:lnSpc>
            </a:pPr>
            <a:r>
              <a:rPr lang="en-US" sz="3699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 Canada </a:t>
            </a:r>
          </a:p>
          <a:p>
            <a:pPr algn="l">
              <a:lnSpc>
                <a:spcPts val="5179"/>
              </a:lnSpc>
            </a:pPr>
            <a:r>
              <a:rPr lang="en-US" sz="3699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JP Japan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287588" y="1353423"/>
            <a:ext cx="6789966" cy="698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3999">
                <a:solidFill>
                  <a:srgbClr val="000B3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Loop through keys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33182" y="5253368"/>
            <a:ext cx="6789966" cy="698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3999" dirty="0">
                <a:solidFill>
                  <a:srgbClr val="000B3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Loop through keys and values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873134" y="5154433"/>
            <a:ext cx="6789966" cy="698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 dirty="0">
                <a:solidFill>
                  <a:srgbClr val="000B3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Output: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1028700" y="6306969"/>
            <a:ext cx="8876504" cy="2480702"/>
            <a:chOff x="0" y="0"/>
            <a:chExt cx="2337845" cy="653354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2337845" cy="653354"/>
            </a:xfrm>
            <a:custGeom>
              <a:avLst/>
              <a:gdLst/>
              <a:ahLst/>
              <a:cxnLst/>
              <a:rect l="l" t="t" r="r" b="b"/>
              <a:pathLst>
                <a:path w="2337845" h="653354">
                  <a:moveTo>
                    <a:pt x="44481" y="0"/>
                  </a:moveTo>
                  <a:lnTo>
                    <a:pt x="2293364" y="0"/>
                  </a:lnTo>
                  <a:cubicBezTo>
                    <a:pt x="2317930" y="0"/>
                    <a:pt x="2337845" y="19915"/>
                    <a:pt x="2337845" y="44481"/>
                  </a:cubicBezTo>
                  <a:lnTo>
                    <a:pt x="2337845" y="608872"/>
                  </a:lnTo>
                  <a:cubicBezTo>
                    <a:pt x="2337845" y="620670"/>
                    <a:pt x="2333158" y="631984"/>
                    <a:pt x="2324816" y="640325"/>
                  </a:cubicBezTo>
                  <a:cubicBezTo>
                    <a:pt x="2316475" y="648667"/>
                    <a:pt x="2305161" y="653354"/>
                    <a:pt x="2293364" y="653354"/>
                  </a:cubicBezTo>
                  <a:lnTo>
                    <a:pt x="44481" y="653354"/>
                  </a:lnTo>
                  <a:cubicBezTo>
                    <a:pt x="19915" y="653354"/>
                    <a:pt x="0" y="633439"/>
                    <a:pt x="0" y="608872"/>
                  </a:cubicBezTo>
                  <a:lnTo>
                    <a:pt x="0" y="44481"/>
                  </a:lnTo>
                  <a:cubicBezTo>
                    <a:pt x="0" y="19915"/>
                    <a:pt x="19915" y="0"/>
                    <a:pt x="44481" y="0"/>
                  </a:cubicBezTo>
                  <a:close/>
                </a:path>
              </a:pathLst>
            </a:custGeom>
            <a:solidFill>
              <a:srgbClr val="000B3D"/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57150"/>
              <a:ext cx="2337845" cy="71050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1437753" y="6904700"/>
            <a:ext cx="8058397" cy="1235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99"/>
              </a:lnSpc>
            </a:pPr>
            <a:r>
              <a:rPr lang="en-US" sz="3499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 code, country in countries.items():</a:t>
            </a:r>
          </a:p>
          <a:p>
            <a:pPr algn="l">
              <a:lnSpc>
                <a:spcPts val="4899"/>
              </a:lnSpc>
            </a:pPr>
            <a:r>
              <a:rPr lang="en-US" sz="3499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print(code, country)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548447" y="895350"/>
            <a:ext cx="7739553" cy="1778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 b="1">
                <a:solidFill>
                  <a:srgbClr val="000B3D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Convert Between Dictionaries and Lists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1748757" y="3622595"/>
            <a:ext cx="5664165" cy="3517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5599"/>
              </a:lnSpc>
            </a:pPr>
            <a:r>
              <a:rPr lang="en-US" sz="3999">
                <a:solidFill>
                  <a:srgbClr val="000B3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 can use list() to convert dictionary keys or values to a list, and dict() to create a dictionary from key-value pairs.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1028700" y="2113756"/>
            <a:ext cx="9694611" cy="1404938"/>
            <a:chOff x="0" y="0"/>
            <a:chExt cx="2553313" cy="370025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553313" cy="370025"/>
            </a:xfrm>
            <a:custGeom>
              <a:avLst/>
              <a:gdLst/>
              <a:ahLst/>
              <a:cxnLst/>
              <a:rect l="l" t="t" r="r" b="b"/>
              <a:pathLst>
                <a:path w="2553313" h="370025">
                  <a:moveTo>
                    <a:pt x="40728" y="0"/>
                  </a:moveTo>
                  <a:lnTo>
                    <a:pt x="2512586" y="0"/>
                  </a:lnTo>
                  <a:cubicBezTo>
                    <a:pt x="2523387" y="0"/>
                    <a:pt x="2533747" y="4291"/>
                    <a:pt x="2541384" y="11929"/>
                  </a:cubicBezTo>
                  <a:cubicBezTo>
                    <a:pt x="2549022" y="19567"/>
                    <a:pt x="2553313" y="29926"/>
                    <a:pt x="2553313" y="40728"/>
                  </a:cubicBezTo>
                  <a:lnTo>
                    <a:pt x="2553313" y="329297"/>
                  </a:lnTo>
                  <a:cubicBezTo>
                    <a:pt x="2553313" y="351790"/>
                    <a:pt x="2535079" y="370025"/>
                    <a:pt x="2512586" y="370025"/>
                  </a:cubicBezTo>
                  <a:lnTo>
                    <a:pt x="40728" y="370025"/>
                  </a:lnTo>
                  <a:cubicBezTo>
                    <a:pt x="29926" y="370025"/>
                    <a:pt x="19567" y="365734"/>
                    <a:pt x="11929" y="358096"/>
                  </a:cubicBezTo>
                  <a:cubicBezTo>
                    <a:pt x="4291" y="350458"/>
                    <a:pt x="0" y="340099"/>
                    <a:pt x="0" y="329297"/>
                  </a:cubicBezTo>
                  <a:lnTo>
                    <a:pt x="0" y="40728"/>
                  </a:lnTo>
                  <a:cubicBezTo>
                    <a:pt x="0" y="29926"/>
                    <a:pt x="4291" y="19567"/>
                    <a:pt x="11929" y="11929"/>
                  </a:cubicBezTo>
                  <a:cubicBezTo>
                    <a:pt x="19567" y="4291"/>
                    <a:pt x="29926" y="0"/>
                    <a:pt x="40728" y="0"/>
                  </a:cubicBezTo>
                  <a:close/>
                </a:path>
              </a:pathLst>
            </a:custGeom>
            <a:solidFill>
              <a:srgbClr val="000B3D"/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57150"/>
              <a:ext cx="2553313" cy="4271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2064487" y="2473642"/>
            <a:ext cx="5236169" cy="5994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codes = list(countries.keys())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1028700" y="5007736"/>
            <a:ext cx="9694611" cy="1404938"/>
            <a:chOff x="0" y="0"/>
            <a:chExt cx="2553313" cy="370025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553313" cy="370025"/>
            </a:xfrm>
            <a:custGeom>
              <a:avLst/>
              <a:gdLst/>
              <a:ahLst/>
              <a:cxnLst/>
              <a:rect l="l" t="t" r="r" b="b"/>
              <a:pathLst>
                <a:path w="2553313" h="370025">
                  <a:moveTo>
                    <a:pt x="40728" y="0"/>
                  </a:moveTo>
                  <a:lnTo>
                    <a:pt x="2512586" y="0"/>
                  </a:lnTo>
                  <a:cubicBezTo>
                    <a:pt x="2523387" y="0"/>
                    <a:pt x="2533747" y="4291"/>
                    <a:pt x="2541384" y="11929"/>
                  </a:cubicBezTo>
                  <a:cubicBezTo>
                    <a:pt x="2549022" y="19567"/>
                    <a:pt x="2553313" y="29926"/>
                    <a:pt x="2553313" y="40728"/>
                  </a:cubicBezTo>
                  <a:lnTo>
                    <a:pt x="2553313" y="329297"/>
                  </a:lnTo>
                  <a:cubicBezTo>
                    <a:pt x="2553313" y="351790"/>
                    <a:pt x="2535079" y="370025"/>
                    <a:pt x="2512586" y="370025"/>
                  </a:cubicBezTo>
                  <a:lnTo>
                    <a:pt x="40728" y="370025"/>
                  </a:lnTo>
                  <a:cubicBezTo>
                    <a:pt x="29926" y="370025"/>
                    <a:pt x="19567" y="365734"/>
                    <a:pt x="11929" y="358096"/>
                  </a:cubicBezTo>
                  <a:cubicBezTo>
                    <a:pt x="4291" y="350458"/>
                    <a:pt x="0" y="340099"/>
                    <a:pt x="0" y="329297"/>
                  </a:cubicBezTo>
                  <a:lnTo>
                    <a:pt x="0" y="40728"/>
                  </a:lnTo>
                  <a:cubicBezTo>
                    <a:pt x="0" y="29926"/>
                    <a:pt x="4291" y="19567"/>
                    <a:pt x="11929" y="11929"/>
                  </a:cubicBezTo>
                  <a:cubicBezTo>
                    <a:pt x="19567" y="4291"/>
                    <a:pt x="29926" y="0"/>
                    <a:pt x="40728" y="0"/>
                  </a:cubicBezTo>
                  <a:close/>
                </a:path>
              </a:pathLst>
            </a:custGeom>
            <a:solidFill>
              <a:srgbClr val="000B3D"/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57150"/>
              <a:ext cx="2553313" cy="4271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1846807" y="5343446"/>
            <a:ext cx="8058397" cy="5638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 dirty="0" err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country_names</a:t>
            </a:r>
            <a:r>
              <a:rPr lang="en-US" sz="3399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list(</a:t>
            </a:r>
            <a:r>
              <a:rPr lang="en-US" sz="3399" dirty="0" err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countries.values</a:t>
            </a:r>
            <a:r>
              <a:rPr lang="en-US" sz="3399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())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1028700" y="7853362"/>
            <a:ext cx="9694611" cy="1404938"/>
            <a:chOff x="0" y="0"/>
            <a:chExt cx="2553313" cy="370025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553313" cy="370025"/>
            </a:xfrm>
            <a:custGeom>
              <a:avLst/>
              <a:gdLst/>
              <a:ahLst/>
              <a:cxnLst/>
              <a:rect l="l" t="t" r="r" b="b"/>
              <a:pathLst>
                <a:path w="2553313" h="370025">
                  <a:moveTo>
                    <a:pt x="40728" y="0"/>
                  </a:moveTo>
                  <a:lnTo>
                    <a:pt x="2512586" y="0"/>
                  </a:lnTo>
                  <a:cubicBezTo>
                    <a:pt x="2523387" y="0"/>
                    <a:pt x="2533747" y="4291"/>
                    <a:pt x="2541384" y="11929"/>
                  </a:cubicBezTo>
                  <a:cubicBezTo>
                    <a:pt x="2549022" y="19567"/>
                    <a:pt x="2553313" y="29926"/>
                    <a:pt x="2553313" y="40728"/>
                  </a:cubicBezTo>
                  <a:lnTo>
                    <a:pt x="2553313" y="329297"/>
                  </a:lnTo>
                  <a:cubicBezTo>
                    <a:pt x="2553313" y="351790"/>
                    <a:pt x="2535079" y="370025"/>
                    <a:pt x="2512586" y="370025"/>
                  </a:cubicBezTo>
                  <a:lnTo>
                    <a:pt x="40728" y="370025"/>
                  </a:lnTo>
                  <a:cubicBezTo>
                    <a:pt x="29926" y="370025"/>
                    <a:pt x="19567" y="365734"/>
                    <a:pt x="11929" y="358096"/>
                  </a:cubicBezTo>
                  <a:cubicBezTo>
                    <a:pt x="4291" y="350458"/>
                    <a:pt x="0" y="340099"/>
                    <a:pt x="0" y="329297"/>
                  </a:cubicBezTo>
                  <a:lnTo>
                    <a:pt x="0" y="40728"/>
                  </a:lnTo>
                  <a:cubicBezTo>
                    <a:pt x="0" y="29926"/>
                    <a:pt x="4291" y="19567"/>
                    <a:pt x="11929" y="11929"/>
                  </a:cubicBezTo>
                  <a:cubicBezTo>
                    <a:pt x="19567" y="4291"/>
                    <a:pt x="29926" y="0"/>
                    <a:pt x="40728" y="0"/>
                  </a:cubicBezTo>
                  <a:close/>
                </a:path>
              </a:pathLst>
            </a:custGeom>
            <a:solidFill>
              <a:srgbClr val="000B3D"/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57150"/>
              <a:ext cx="2553313" cy="4271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1846807" y="8213249"/>
            <a:ext cx="8058397" cy="5994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country_dict = dict(country_list)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287588" y="933450"/>
            <a:ext cx="6789966" cy="698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>
                <a:solidFill>
                  <a:srgbClr val="000B3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Keys → List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287588" y="4077057"/>
            <a:ext cx="6789966" cy="698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>
                <a:solidFill>
                  <a:srgbClr val="000B3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Values → List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287588" y="6974649"/>
            <a:ext cx="6789966" cy="698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>
                <a:solidFill>
                  <a:srgbClr val="000B3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List of pairs → Dictionary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873372" y="710701"/>
            <a:ext cx="8880227" cy="90588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699"/>
              </a:lnSpc>
            </a:pPr>
            <a:r>
              <a:rPr lang="en-US" sz="5499" b="1" dirty="0">
                <a:solidFill>
                  <a:srgbClr val="000B3D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The Country Code Program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873373" y="3180432"/>
            <a:ext cx="5664165" cy="5632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3999" dirty="0">
                <a:solidFill>
                  <a:srgbClr val="000B3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Concepts Used</a:t>
            </a:r>
          </a:p>
          <a:p>
            <a:pPr marL="863596" lvl="1" indent="-431798" algn="l">
              <a:lnSpc>
                <a:spcPts val="5599"/>
              </a:lnSpc>
              <a:buFont typeface="Arial"/>
              <a:buChar char="•"/>
            </a:pPr>
            <a:r>
              <a:rPr lang="en-US" sz="3999" dirty="0">
                <a:solidFill>
                  <a:srgbClr val="000B3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Dictionary keys and values</a:t>
            </a:r>
          </a:p>
          <a:p>
            <a:pPr marL="863596" lvl="1" indent="-431798" algn="l">
              <a:lnSpc>
                <a:spcPts val="5599"/>
              </a:lnSpc>
              <a:buFont typeface="Arial"/>
              <a:buChar char="•"/>
            </a:pPr>
            <a:r>
              <a:rPr lang="en-US" sz="3999" dirty="0">
                <a:solidFill>
                  <a:srgbClr val="000B3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User input</a:t>
            </a:r>
          </a:p>
          <a:p>
            <a:pPr marL="863596" lvl="1" indent="-431798" algn="l">
              <a:lnSpc>
                <a:spcPts val="5599"/>
              </a:lnSpc>
              <a:buFont typeface="Arial"/>
              <a:buChar char="•"/>
            </a:pPr>
            <a:r>
              <a:rPr lang="en-US" sz="3999" dirty="0">
                <a:solidFill>
                  <a:srgbClr val="000B3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 operator</a:t>
            </a:r>
          </a:p>
          <a:p>
            <a:pPr marL="863596" lvl="1" indent="-431798" algn="l">
              <a:lnSpc>
                <a:spcPts val="5599"/>
              </a:lnSpc>
              <a:buFont typeface="Arial"/>
              <a:buChar char="•"/>
            </a:pPr>
            <a:r>
              <a:rPr lang="en-US" sz="3999" dirty="0">
                <a:solidFill>
                  <a:srgbClr val="000B3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Accessing a value by key</a:t>
            </a:r>
          </a:p>
          <a:p>
            <a:pPr algn="l">
              <a:lnSpc>
                <a:spcPts val="5599"/>
              </a:lnSpc>
            </a:pPr>
            <a:endParaRPr lang="en-US" sz="3999" dirty="0">
              <a:solidFill>
                <a:srgbClr val="000B3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4" name="Group 4"/>
          <p:cNvGrpSpPr/>
          <p:nvPr/>
        </p:nvGrpSpPr>
        <p:grpSpPr>
          <a:xfrm>
            <a:off x="8041099" y="1869927"/>
            <a:ext cx="9394397" cy="8253461"/>
            <a:chOff x="0" y="0"/>
            <a:chExt cx="2474245" cy="2173751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74245" cy="2173751"/>
            </a:xfrm>
            <a:custGeom>
              <a:avLst/>
              <a:gdLst/>
              <a:ahLst/>
              <a:cxnLst/>
              <a:rect l="l" t="t" r="r" b="b"/>
              <a:pathLst>
                <a:path w="2474245" h="2173751">
                  <a:moveTo>
                    <a:pt x="42029" y="0"/>
                  </a:moveTo>
                  <a:lnTo>
                    <a:pt x="2432215" y="0"/>
                  </a:lnTo>
                  <a:cubicBezTo>
                    <a:pt x="2455427" y="0"/>
                    <a:pt x="2474245" y="18817"/>
                    <a:pt x="2474245" y="42029"/>
                  </a:cubicBezTo>
                  <a:lnTo>
                    <a:pt x="2474245" y="2131722"/>
                  </a:lnTo>
                  <a:cubicBezTo>
                    <a:pt x="2474245" y="2154934"/>
                    <a:pt x="2455427" y="2173751"/>
                    <a:pt x="2432215" y="2173751"/>
                  </a:cubicBezTo>
                  <a:lnTo>
                    <a:pt x="42029" y="2173751"/>
                  </a:lnTo>
                  <a:cubicBezTo>
                    <a:pt x="18817" y="2173751"/>
                    <a:pt x="0" y="2154934"/>
                    <a:pt x="0" y="2131722"/>
                  </a:cubicBezTo>
                  <a:lnTo>
                    <a:pt x="0" y="42029"/>
                  </a:lnTo>
                  <a:cubicBezTo>
                    <a:pt x="0" y="18817"/>
                    <a:pt x="18817" y="0"/>
                    <a:pt x="42029" y="0"/>
                  </a:cubicBezTo>
                  <a:close/>
                </a:path>
              </a:pathLst>
            </a:custGeom>
            <a:solidFill>
              <a:srgbClr val="000B3D"/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57150"/>
              <a:ext cx="2474245" cy="223090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8556602" y="2053625"/>
            <a:ext cx="8363392" cy="79504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countries = {</a:t>
            </a:r>
          </a:p>
          <a:p>
            <a:pPr algn="l">
              <a:lnSpc>
                <a:spcPts val="4759"/>
              </a:lnSpc>
            </a:pPr>
            <a:r>
              <a:rPr lang="en-US" sz="3399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"CA": "Canada",</a:t>
            </a:r>
          </a:p>
          <a:p>
            <a:pPr algn="l">
              <a:lnSpc>
                <a:spcPts val="4759"/>
              </a:lnSpc>
            </a:pPr>
            <a:r>
              <a:rPr lang="en-US" sz="3399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"US": "United States",</a:t>
            </a:r>
          </a:p>
          <a:p>
            <a:pPr algn="l">
              <a:lnSpc>
                <a:spcPts val="4759"/>
              </a:lnSpc>
            </a:pPr>
            <a:r>
              <a:rPr lang="en-US" sz="3399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"MX": "Mexico"</a:t>
            </a:r>
          </a:p>
          <a:p>
            <a:pPr algn="l">
              <a:lnSpc>
                <a:spcPts val="4759"/>
              </a:lnSpc>
            </a:pPr>
            <a:r>
              <a:rPr lang="en-US" sz="3399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</a:p>
          <a:p>
            <a:pPr algn="l">
              <a:lnSpc>
                <a:spcPts val="4759"/>
              </a:lnSpc>
            </a:pPr>
            <a:endParaRPr lang="en-US" sz="3399" dirty="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l">
              <a:lnSpc>
                <a:spcPts val="4759"/>
              </a:lnSpc>
            </a:pPr>
            <a:r>
              <a:rPr lang="en-US" sz="3399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code = input(“\</a:t>
            </a:r>
            <a:r>
              <a:rPr lang="en-US" sz="3399" dirty="0" err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nEnter</a:t>
            </a:r>
            <a:r>
              <a:rPr lang="en-US" sz="3399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 country code: ")</a:t>
            </a:r>
          </a:p>
          <a:p>
            <a:pPr algn="l">
              <a:lnSpc>
                <a:spcPts val="4759"/>
              </a:lnSpc>
            </a:pPr>
            <a:r>
              <a:rPr lang="en-US" sz="3399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code = </a:t>
            </a:r>
            <a:r>
              <a:rPr lang="en-US" sz="3399" dirty="0" err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code.upper</a:t>
            </a:r>
            <a:r>
              <a:rPr lang="en-US" sz="3399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()</a:t>
            </a:r>
          </a:p>
          <a:p>
            <a:pPr algn="l">
              <a:lnSpc>
                <a:spcPts val="4759"/>
              </a:lnSpc>
            </a:pPr>
            <a:endParaRPr lang="en-US" sz="3399" dirty="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l">
              <a:lnSpc>
                <a:spcPts val="4759"/>
              </a:lnSpc>
            </a:pPr>
            <a:r>
              <a:rPr lang="en-US" sz="3399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if code in countries:</a:t>
            </a:r>
          </a:p>
          <a:p>
            <a:pPr algn="l">
              <a:lnSpc>
                <a:spcPts val="4759"/>
              </a:lnSpc>
            </a:pPr>
            <a:r>
              <a:rPr lang="en-US" sz="3399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print("Country:", countries[code])</a:t>
            </a:r>
          </a:p>
          <a:p>
            <a:pPr algn="l">
              <a:lnSpc>
                <a:spcPts val="4759"/>
              </a:lnSpc>
            </a:pPr>
            <a:r>
              <a:rPr lang="en-US" sz="3399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else:</a:t>
            </a:r>
          </a:p>
          <a:p>
            <a:pPr algn="l">
              <a:lnSpc>
                <a:spcPts val="4759"/>
              </a:lnSpc>
            </a:pPr>
            <a:r>
              <a:rPr lang="en-US" sz="3399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print("There is no country with that code.")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778522" y="985676"/>
            <a:ext cx="8805999" cy="892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 b="1">
                <a:solidFill>
                  <a:srgbClr val="000B3D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The Word Counter Program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3946806" y="6307894"/>
            <a:ext cx="3312494" cy="1403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5599"/>
              </a:lnSpc>
            </a:pPr>
            <a:r>
              <a:rPr lang="en-US" sz="3999">
                <a:solidFill>
                  <a:srgbClr val="000B3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Key = word</a:t>
            </a:r>
          </a:p>
          <a:p>
            <a:pPr algn="just">
              <a:lnSpc>
                <a:spcPts val="5599"/>
              </a:lnSpc>
            </a:pPr>
            <a:r>
              <a:rPr lang="en-US" sz="3999">
                <a:solidFill>
                  <a:srgbClr val="000B3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Value = count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1028700" y="2812841"/>
            <a:ext cx="7192832" cy="5492636"/>
            <a:chOff x="0" y="0"/>
            <a:chExt cx="1894408" cy="144662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894408" cy="1446620"/>
            </a:xfrm>
            <a:custGeom>
              <a:avLst/>
              <a:gdLst/>
              <a:ahLst/>
              <a:cxnLst/>
              <a:rect l="l" t="t" r="r" b="b"/>
              <a:pathLst>
                <a:path w="1894408" h="1446620">
                  <a:moveTo>
                    <a:pt x="54893" y="0"/>
                  </a:moveTo>
                  <a:lnTo>
                    <a:pt x="1839515" y="0"/>
                  </a:lnTo>
                  <a:cubicBezTo>
                    <a:pt x="1854074" y="0"/>
                    <a:pt x="1868036" y="5783"/>
                    <a:pt x="1878331" y="16078"/>
                  </a:cubicBezTo>
                  <a:cubicBezTo>
                    <a:pt x="1888625" y="26372"/>
                    <a:pt x="1894408" y="40335"/>
                    <a:pt x="1894408" y="54893"/>
                  </a:cubicBezTo>
                  <a:lnTo>
                    <a:pt x="1894408" y="1391727"/>
                  </a:lnTo>
                  <a:cubicBezTo>
                    <a:pt x="1894408" y="1422044"/>
                    <a:pt x="1869832" y="1446620"/>
                    <a:pt x="1839515" y="1446620"/>
                  </a:cubicBezTo>
                  <a:lnTo>
                    <a:pt x="54893" y="1446620"/>
                  </a:lnTo>
                  <a:cubicBezTo>
                    <a:pt x="24577" y="1446620"/>
                    <a:pt x="0" y="1422044"/>
                    <a:pt x="0" y="1391727"/>
                  </a:cubicBezTo>
                  <a:lnTo>
                    <a:pt x="0" y="54893"/>
                  </a:lnTo>
                  <a:cubicBezTo>
                    <a:pt x="0" y="24577"/>
                    <a:pt x="24577" y="0"/>
                    <a:pt x="54893" y="0"/>
                  </a:cubicBezTo>
                  <a:close/>
                </a:path>
              </a:pathLst>
            </a:custGeom>
            <a:solidFill>
              <a:srgbClr val="000B3D"/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57150"/>
              <a:ext cx="1894408" cy="150377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1673277" y="3960299"/>
            <a:ext cx="5903677" cy="29997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 word in words:</a:t>
            </a:r>
          </a:p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if word in word_count:</a:t>
            </a:r>
          </a:p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word_count[word] += 1</a:t>
            </a:r>
          </a:p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else:</a:t>
            </a:r>
          </a:p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word_count[word] = 1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9810477" y="3166813"/>
            <a:ext cx="7267350" cy="1204795"/>
            <a:chOff x="0" y="0"/>
            <a:chExt cx="1914035" cy="317312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914035" cy="317312"/>
            </a:xfrm>
            <a:custGeom>
              <a:avLst/>
              <a:gdLst/>
              <a:ahLst/>
              <a:cxnLst/>
              <a:rect l="l" t="t" r="r" b="b"/>
              <a:pathLst>
                <a:path w="1914035" h="317312">
                  <a:moveTo>
                    <a:pt x="54330" y="0"/>
                  </a:moveTo>
                  <a:lnTo>
                    <a:pt x="1859704" y="0"/>
                  </a:lnTo>
                  <a:cubicBezTo>
                    <a:pt x="1889710" y="0"/>
                    <a:pt x="1914035" y="24325"/>
                    <a:pt x="1914035" y="54330"/>
                  </a:cubicBezTo>
                  <a:lnTo>
                    <a:pt x="1914035" y="262982"/>
                  </a:lnTo>
                  <a:cubicBezTo>
                    <a:pt x="1914035" y="277391"/>
                    <a:pt x="1908311" y="291210"/>
                    <a:pt x="1898122" y="301399"/>
                  </a:cubicBezTo>
                  <a:cubicBezTo>
                    <a:pt x="1887933" y="311588"/>
                    <a:pt x="1874114" y="317312"/>
                    <a:pt x="1859704" y="317312"/>
                  </a:cubicBezTo>
                  <a:lnTo>
                    <a:pt x="54330" y="317312"/>
                  </a:lnTo>
                  <a:cubicBezTo>
                    <a:pt x="39921" y="317312"/>
                    <a:pt x="26102" y="311588"/>
                    <a:pt x="15913" y="301399"/>
                  </a:cubicBezTo>
                  <a:cubicBezTo>
                    <a:pt x="5724" y="291210"/>
                    <a:pt x="0" y="277391"/>
                    <a:pt x="0" y="262982"/>
                  </a:cubicBezTo>
                  <a:lnTo>
                    <a:pt x="0" y="54330"/>
                  </a:lnTo>
                  <a:cubicBezTo>
                    <a:pt x="0" y="39921"/>
                    <a:pt x="5724" y="26102"/>
                    <a:pt x="15913" y="15913"/>
                  </a:cubicBezTo>
                  <a:cubicBezTo>
                    <a:pt x="26102" y="5724"/>
                    <a:pt x="39921" y="0"/>
                    <a:pt x="54330" y="0"/>
                  </a:cubicBezTo>
                  <a:close/>
                </a:path>
              </a:pathLst>
            </a:custGeom>
            <a:solidFill>
              <a:srgbClr val="000B3D"/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57150"/>
              <a:ext cx="1914035" cy="37446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810477" y="5847425"/>
            <a:ext cx="3365111" cy="3231236"/>
            <a:chOff x="0" y="0"/>
            <a:chExt cx="886284" cy="851025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86284" cy="851025"/>
            </a:xfrm>
            <a:custGeom>
              <a:avLst/>
              <a:gdLst/>
              <a:ahLst/>
              <a:cxnLst/>
              <a:rect l="l" t="t" r="r" b="b"/>
              <a:pathLst>
                <a:path w="886284" h="851025">
                  <a:moveTo>
                    <a:pt x="117333" y="0"/>
                  </a:moveTo>
                  <a:lnTo>
                    <a:pt x="768952" y="0"/>
                  </a:lnTo>
                  <a:cubicBezTo>
                    <a:pt x="833753" y="0"/>
                    <a:pt x="886284" y="52532"/>
                    <a:pt x="886284" y="117333"/>
                  </a:cubicBezTo>
                  <a:lnTo>
                    <a:pt x="886284" y="733692"/>
                  </a:lnTo>
                  <a:cubicBezTo>
                    <a:pt x="886284" y="798493"/>
                    <a:pt x="833753" y="851025"/>
                    <a:pt x="768952" y="851025"/>
                  </a:cubicBezTo>
                  <a:lnTo>
                    <a:pt x="117333" y="851025"/>
                  </a:lnTo>
                  <a:cubicBezTo>
                    <a:pt x="52532" y="851025"/>
                    <a:pt x="0" y="798493"/>
                    <a:pt x="0" y="733692"/>
                  </a:cubicBezTo>
                  <a:lnTo>
                    <a:pt x="0" y="117333"/>
                  </a:lnTo>
                  <a:cubicBezTo>
                    <a:pt x="0" y="52532"/>
                    <a:pt x="52532" y="0"/>
                    <a:pt x="117333" y="0"/>
                  </a:cubicBezTo>
                  <a:close/>
                </a:path>
              </a:pathLst>
            </a:custGeom>
            <a:solidFill>
              <a:srgbClr val="000B3D"/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57150"/>
              <a:ext cx="886284" cy="9081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10224623" y="6317419"/>
            <a:ext cx="2950966" cy="2399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python → 2</a:t>
            </a:r>
          </a:p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is     → 2</a:t>
            </a:r>
          </a:p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fun    → 1</a:t>
            </a:r>
          </a:p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easy   → 1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584521" y="2213828"/>
            <a:ext cx="2848073" cy="698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>
                <a:solidFill>
                  <a:srgbClr val="000B3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Example: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9810477" y="4710774"/>
            <a:ext cx="3098251" cy="698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>
                <a:solidFill>
                  <a:srgbClr val="000B3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Dictionary：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0202585" y="3372336"/>
            <a:ext cx="6628580" cy="698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python is fun python is easy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778522" y="985676"/>
            <a:ext cx="8805999" cy="892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 b="1">
                <a:solidFill>
                  <a:srgbClr val="000B3D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More Skills with Dictionaries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250494" y="3216849"/>
            <a:ext cx="8893506" cy="1204795"/>
            <a:chOff x="0" y="0"/>
            <a:chExt cx="2342323" cy="31731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342323" cy="317312"/>
            </a:xfrm>
            <a:custGeom>
              <a:avLst/>
              <a:gdLst/>
              <a:ahLst/>
              <a:cxnLst/>
              <a:rect l="l" t="t" r="r" b="b"/>
              <a:pathLst>
                <a:path w="2342323" h="317312">
                  <a:moveTo>
                    <a:pt x="44396" y="0"/>
                  </a:moveTo>
                  <a:lnTo>
                    <a:pt x="2297927" y="0"/>
                  </a:lnTo>
                  <a:cubicBezTo>
                    <a:pt x="2309701" y="0"/>
                    <a:pt x="2320993" y="4677"/>
                    <a:pt x="2329319" y="13003"/>
                  </a:cubicBezTo>
                  <a:cubicBezTo>
                    <a:pt x="2337645" y="21329"/>
                    <a:pt x="2342323" y="32622"/>
                    <a:pt x="2342323" y="44396"/>
                  </a:cubicBezTo>
                  <a:lnTo>
                    <a:pt x="2342323" y="272916"/>
                  </a:lnTo>
                  <a:cubicBezTo>
                    <a:pt x="2342323" y="284691"/>
                    <a:pt x="2337645" y="295983"/>
                    <a:pt x="2329319" y="304309"/>
                  </a:cubicBezTo>
                  <a:cubicBezTo>
                    <a:pt x="2320993" y="312635"/>
                    <a:pt x="2309701" y="317312"/>
                    <a:pt x="2297927" y="317312"/>
                  </a:cubicBezTo>
                  <a:lnTo>
                    <a:pt x="44396" y="317312"/>
                  </a:lnTo>
                  <a:cubicBezTo>
                    <a:pt x="32622" y="317312"/>
                    <a:pt x="21329" y="312635"/>
                    <a:pt x="13003" y="304309"/>
                  </a:cubicBezTo>
                  <a:cubicBezTo>
                    <a:pt x="4677" y="295983"/>
                    <a:pt x="0" y="284691"/>
                    <a:pt x="0" y="272916"/>
                  </a:cubicBezTo>
                  <a:lnTo>
                    <a:pt x="0" y="44396"/>
                  </a:lnTo>
                  <a:cubicBezTo>
                    <a:pt x="0" y="32622"/>
                    <a:pt x="4677" y="21329"/>
                    <a:pt x="13003" y="13003"/>
                  </a:cubicBezTo>
                  <a:cubicBezTo>
                    <a:pt x="21329" y="4677"/>
                    <a:pt x="32622" y="0"/>
                    <a:pt x="44396" y="0"/>
                  </a:cubicBezTo>
                  <a:close/>
                </a:path>
              </a:pathLst>
            </a:custGeom>
            <a:solidFill>
              <a:srgbClr val="000B3D"/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57150"/>
              <a:ext cx="2342323" cy="37446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642601" y="2150475"/>
            <a:ext cx="1622202" cy="698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3999">
                <a:solidFill>
                  <a:srgbClr val="000B3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Merge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42601" y="3422371"/>
            <a:ext cx="8163713" cy="698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all_countries = countries1 | countries2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642601" y="4445000"/>
            <a:ext cx="5374869" cy="698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3999">
                <a:solidFill>
                  <a:srgbClr val="000B3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Creates a new dictionary.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811619" y="2400521"/>
            <a:ext cx="1622202" cy="698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3999">
                <a:solidFill>
                  <a:srgbClr val="000B3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Update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9419511" y="3213322"/>
            <a:ext cx="6967831" cy="1204795"/>
            <a:chOff x="0" y="0"/>
            <a:chExt cx="1835149" cy="317312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835149" cy="317312"/>
            </a:xfrm>
            <a:custGeom>
              <a:avLst/>
              <a:gdLst/>
              <a:ahLst/>
              <a:cxnLst/>
              <a:rect l="l" t="t" r="r" b="b"/>
              <a:pathLst>
                <a:path w="1835149" h="317312">
                  <a:moveTo>
                    <a:pt x="56666" y="0"/>
                  </a:moveTo>
                  <a:lnTo>
                    <a:pt x="1778483" y="0"/>
                  </a:lnTo>
                  <a:cubicBezTo>
                    <a:pt x="1793512" y="0"/>
                    <a:pt x="1807925" y="5970"/>
                    <a:pt x="1818552" y="16597"/>
                  </a:cubicBezTo>
                  <a:cubicBezTo>
                    <a:pt x="1829179" y="27224"/>
                    <a:pt x="1835149" y="41637"/>
                    <a:pt x="1835149" y="56666"/>
                  </a:cubicBezTo>
                  <a:lnTo>
                    <a:pt x="1835149" y="260647"/>
                  </a:lnTo>
                  <a:cubicBezTo>
                    <a:pt x="1835149" y="275675"/>
                    <a:pt x="1829179" y="290088"/>
                    <a:pt x="1818552" y="300715"/>
                  </a:cubicBezTo>
                  <a:cubicBezTo>
                    <a:pt x="1807925" y="311342"/>
                    <a:pt x="1793512" y="317312"/>
                    <a:pt x="1778483" y="317312"/>
                  </a:cubicBezTo>
                  <a:lnTo>
                    <a:pt x="56666" y="317312"/>
                  </a:lnTo>
                  <a:cubicBezTo>
                    <a:pt x="41637" y="317312"/>
                    <a:pt x="27224" y="311342"/>
                    <a:pt x="16597" y="300715"/>
                  </a:cubicBezTo>
                  <a:cubicBezTo>
                    <a:pt x="5970" y="290088"/>
                    <a:pt x="0" y="275675"/>
                    <a:pt x="0" y="260647"/>
                  </a:cubicBezTo>
                  <a:lnTo>
                    <a:pt x="0" y="56666"/>
                  </a:lnTo>
                  <a:cubicBezTo>
                    <a:pt x="0" y="41637"/>
                    <a:pt x="5970" y="27224"/>
                    <a:pt x="16597" y="16597"/>
                  </a:cubicBezTo>
                  <a:cubicBezTo>
                    <a:pt x="27224" y="5970"/>
                    <a:pt x="41637" y="0"/>
                    <a:pt x="56666" y="0"/>
                  </a:cubicBezTo>
                  <a:close/>
                </a:path>
              </a:pathLst>
            </a:custGeom>
            <a:solidFill>
              <a:srgbClr val="000B3D"/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57150"/>
              <a:ext cx="1835149" cy="37446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9811619" y="3418844"/>
            <a:ext cx="6562575" cy="698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countries1 |= countries2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615565" y="4444221"/>
            <a:ext cx="6575723" cy="698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3999">
                <a:solidFill>
                  <a:srgbClr val="000B3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Updates an existing dictionary.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482703" y="5357423"/>
            <a:ext cx="3622017" cy="698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3999">
                <a:solidFill>
                  <a:srgbClr val="000B3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Complex Values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3896993" y="6365875"/>
            <a:ext cx="11045036" cy="3178348"/>
            <a:chOff x="0" y="0"/>
            <a:chExt cx="2908981" cy="837096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2908981" cy="837096"/>
            </a:xfrm>
            <a:custGeom>
              <a:avLst/>
              <a:gdLst/>
              <a:ahLst/>
              <a:cxnLst/>
              <a:rect l="l" t="t" r="r" b="b"/>
              <a:pathLst>
                <a:path w="2908981" h="837096">
                  <a:moveTo>
                    <a:pt x="35748" y="0"/>
                  </a:moveTo>
                  <a:lnTo>
                    <a:pt x="2873233" y="0"/>
                  </a:lnTo>
                  <a:cubicBezTo>
                    <a:pt x="2882714" y="0"/>
                    <a:pt x="2891806" y="3766"/>
                    <a:pt x="2898510" y="10470"/>
                  </a:cubicBezTo>
                  <a:cubicBezTo>
                    <a:pt x="2905214" y="17174"/>
                    <a:pt x="2908981" y="26267"/>
                    <a:pt x="2908981" y="35748"/>
                  </a:cubicBezTo>
                  <a:lnTo>
                    <a:pt x="2908981" y="801348"/>
                  </a:lnTo>
                  <a:cubicBezTo>
                    <a:pt x="2908981" y="821091"/>
                    <a:pt x="2892976" y="837096"/>
                    <a:pt x="2873233" y="837096"/>
                  </a:cubicBezTo>
                  <a:lnTo>
                    <a:pt x="35748" y="837096"/>
                  </a:lnTo>
                  <a:cubicBezTo>
                    <a:pt x="16005" y="837096"/>
                    <a:pt x="0" y="821091"/>
                    <a:pt x="0" y="801348"/>
                  </a:cubicBezTo>
                  <a:lnTo>
                    <a:pt x="0" y="35748"/>
                  </a:lnTo>
                  <a:cubicBezTo>
                    <a:pt x="0" y="16005"/>
                    <a:pt x="16005" y="0"/>
                    <a:pt x="35748" y="0"/>
                  </a:cubicBezTo>
                  <a:close/>
                </a:path>
              </a:pathLst>
            </a:custGeom>
            <a:solidFill>
              <a:srgbClr val="000B3D"/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-57150"/>
              <a:ext cx="2908981" cy="89424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4697247" y="6853324"/>
            <a:ext cx="9554516" cy="2108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books = {</a:t>
            </a:r>
          </a:p>
          <a:p>
            <a:pPr algn="l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"PY": ["Python Programming", 39.99]</a:t>
            </a:r>
          </a:p>
          <a:p>
            <a:pPr algn="l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778522" y="985676"/>
            <a:ext cx="9844198" cy="892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 b="1">
                <a:solidFill>
                  <a:srgbClr val="000B3D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Book Catalog &amp; Chapter Summary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178649" y="2450557"/>
            <a:ext cx="3622017" cy="698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3999">
                <a:solidFill>
                  <a:srgbClr val="000B3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Book Catalog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778522" y="3493250"/>
            <a:ext cx="7467493" cy="4204078"/>
            <a:chOff x="0" y="0"/>
            <a:chExt cx="1966747" cy="1107247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966747" cy="1107247"/>
            </a:xfrm>
            <a:custGeom>
              <a:avLst/>
              <a:gdLst/>
              <a:ahLst/>
              <a:cxnLst/>
              <a:rect l="l" t="t" r="r" b="b"/>
              <a:pathLst>
                <a:path w="1966747" h="1107247">
                  <a:moveTo>
                    <a:pt x="52874" y="0"/>
                  </a:moveTo>
                  <a:lnTo>
                    <a:pt x="1913873" y="0"/>
                  </a:lnTo>
                  <a:cubicBezTo>
                    <a:pt x="1943074" y="0"/>
                    <a:pt x="1966747" y="23673"/>
                    <a:pt x="1966747" y="52874"/>
                  </a:cubicBezTo>
                  <a:lnTo>
                    <a:pt x="1966747" y="1054373"/>
                  </a:lnTo>
                  <a:cubicBezTo>
                    <a:pt x="1966747" y="1068396"/>
                    <a:pt x="1961176" y="1081844"/>
                    <a:pt x="1951261" y="1091760"/>
                  </a:cubicBezTo>
                  <a:cubicBezTo>
                    <a:pt x="1941345" y="1101676"/>
                    <a:pt x="1927896" y="1107247"/>
                    <a:pt x="1913873" y="1107247"/>
                  </a:cubicBezTo>
                  <a:lnTo>
                    <a:pt x="52874" y="1107247"/>
                  </a:lnTo>
                  <a:cubicBezTo>
                    <a:pt x="38851" y="1107247"/>
                    <a:pt x="25402" y="1101676"/>
                    <a:pt x="15487" y="1091760"/>
                  </a:cubicBezTo>
                  <a:cubicBezTo>
                    <a:pt x="5571" y="1081844"/>
                    <a:pt x="0" y="1068396"/>
                    <a:pt x="0" y="1054373"/>
                  </a:cubicBezTo>
                  <a:lnTo>
                    <a:pt x="0" y="52874"/>
                  </a:lnTo>
                  <a:cubicBezTo>
                    <a:pt x="0" y="38851"/>
                    <a:pt x="5571" y="25402"/>
                    <a:pt x="15487" y="15487"/>
                  </a:cubicBezTo>
                  <a:cubicBezTo>
                    <a:pt x="25402" y="5571"/>
                    <a:pt x="38851" y="0"/>
                    <a:pt x="52874" y="0"/>
                  </a:cubicBezTo>
                  <a:close/>
                </a:path>
              </a:pathLst>
            </a:custGeom>
            <a:solidFill>
              <a:srgbClr val="000B3D"/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57150"/>
              <a:ext cx="1966747" cy="116439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1178649" y="4141139"/>
            <a:ext cx="6667239" cy="2813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 code, book in books.items():</a:t>
            </a:r>
          </a:p>
          <a:p>
            <a:pPr algn="l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title = book[0]</a:t>
            </a:r>
          </a:p>
          <a:p>
            <a:pPr algn="l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price = book[1]</a:t>
            </a:r>
          </a:p>
          <a:p>
            <a:pPr algn="l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print(code, title, price)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647026" y="2450557"/>
            <a:ext cx="2446181" cy="698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3999">
                <a:solidFill>
                  <a:srgbClr val="000B3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Summary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8993893" y="3398000"/>
            <a:ext cx="8115300" cy="6337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63596" lvl="1" indent="-431798" algn="l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000B3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Create dictionaries</a:t>
            </a:r>
          </a:p>
          <a:p>
            <a:pPr marL="863596" lvl="1" indent="-431798" algn="l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000B3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Get, set, add, and delete items</a:t>
            </a:r>
          </a:p>
          <a:p>
            <a:pPr marL="863596" lvl="1" indent="-431798" algn="l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000B3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Loop through keys and values</a:t>
            </a:r>
          </a:p>
          <a:p>
            <a:pPr marL="863596" lvl="1" indent="-431798" algn="l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000B3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Convert dictionaries and lists</a:t>
            </a:r>
          </a:p>
          <a:p>
            <a:pPr marL="863596" lvl="1" indent="-431798" algn="l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000B3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Merge and update dictionaries</a:t>
            </a:r>
          </a:p>
          <a:p>
            <a:pPr marL="863596" lvl="1" indent="-431798" algn="l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000B3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Store complex values</a:t>
            </a:r>
          </a:p>
          <a:p>
            <a:pPr marL="863596" lvl="1" indent="-431798" algn="l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000B3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 dictionaries in programs</a:t>
            </a:r>
          </a:p>
          <a:p>
            <a:pPr algn="l">
              <a:lnSpc>
                <a:spcPts val="5599"/>
              </a:lnSpc>
            </a:pPr>
            <a:endParaRPr lang="en-US" sz="3999">
              <a:solidFill>
                <a:srgbClr val="000B3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l">
              <a:lnSpc>
                <a:spcPts val="5599"/>
              </a:lnSpc>
            </a:pPr>
            <a:r>
              <a:rPr lang="en-US" sz="3999">
                <a:solidFill>
                  <a:srgbClr val="000B3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Practice Time - practice_ch12.py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</TotalTime>
  <Words>584</Words>
  <Application>Microsoft Office PowerPoint</Application>
  <PresentationFormat>Custom</PresentationFormat>
  <Paragraphs>128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Times New Roman</vt:lpstr>
      <vt:lpstr>Calibri</vt:lpstr>
      <vt:lpstr>Times New Roman Bold</vt:lpstr>
      <vt:lpstr>Noto Sans T Chinese</vt:lpstr>
      <vt:lpstr>Arial</vt:lpstr>
      <vt:lpstr>Aptos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chapter_12_How_to_Work_with_Dictionaries</dc:title>
  <cp:lastModifiedBy>盈慈 陳</cp:lastModifiedBy>
  <cp:revision>4</cp:revision>
  <dcterms:created xsi:type="dcterms:W3CDTF">2006-08-16T00:00:00Z</dcterms:created>
  <dcterms:modified xsi:type="dcterms:W3CDTF">2026-10-01T18:33:36Z</dcterms:modified>
  <dc:identifier>DAHU62P9MJs</dc:identifier>
</cp:coreProperties>
</file>