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Noto Sans T Chinese" panose="02020500000000000000" charset="-120"/>
      <p:regular r:id="rId12"/>
    </p:embeddedFont>
    <p:embeddedFont>
      <p:font typeface="Times New Roman Bold" panose="02020803070505020304" pitchFamily="18" charset="0"/>
      <p:regular r:id="rId13"/>
      <p:bold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6" d="100"/>
          <a:sy n="36" d="100"/>
        </p:scale>
        <p:origin x="52" y="8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盈慈 陳" userId="47c6c481c66a08f8" providerId="LiveId" clId="{C8E897B1-1C11-4474-A106-AD9E28844469}"/>
    <pc:docChg chg="modSld">
      <pc:chgData name="盈慈 陳" userId="47c6c481c66a08f8" providerId="LiveId" clId="{C8E897B1-1C11-4474-A106-AD9E28844469}" dt="2026-09-11T19:48:52.244" v="18" actId="14100"/>
      <pc:docMkLst>
        <pc:docMk/>
      </pc:docMkLst>
      <pc:sldChg chg="modSp mod">
        <pc:chgData name="盈慈 陳" userId="47c6c481c66a08f8" providerId="LiveId" clId="{C8E897B1-1C11-4474-A106-AD9E28844469}" dt="2026-09-11T19:47:28.624" v="2" actId="1076"/>
        <pc:sldMkLst>
          <pc:docMk/>
          <pc:sldMk cId="0" sldId="256"/>
        </pc:sldMkLst>
        <pc:spChg chg="mod">
          <ac:chgData name="盈慈 陳" userId="47c6c481c66a08f8" providerId="LiveId" clId="{C8E897B1-1C11-4474-A106-AD9E28844469}" dt="2026-09-11T19:47:25.410" v="1" actId="14100"/>
          <ac:spMkLst>
            <pc:docMk/>
            <pc:sldMk cId="0" sldId="256"/>
            <ac:spMk id="2" creationId="{00000000-0000-0000-0000-000000000000}"/>
          </ac:spMkLst>
        </pc:spChg>
        <pc:spChg chg="mod">
          <ac:chgData name="盈慈 陳" userId="47c6c481c66a08f8" providerId="LiveId" clId="{C8E897B1-1C11-4474-A106-AD9E28844469}" dt="2026-09-11T19:47:28.624" v="2" actId="1076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11T19:47:39.923" v="13" actId="20577"/>
        <pc:sldMkLst>
          <pc:docMk/>
          <pc:sldMk cId="0" sldId="257"/>
        </pc:sldMkLst>
        <pc:spChg chg="mod">
          <ac:chgData name="盈慈 陳" userId="47c6c481c66a08f8" providerId="LiveId" clId="{C8E897B1-1C11-4474-A106-AD9E28844469}" dt="2026-09-11T19:47:36.028" v="3" actId="14100"/>
          <ac:spMkLst>
            <pc:docMk/>
            <pc:sldMk cId="0" sldId="257"/>
            <ac:spMk id="2" creationId="{00000000-0000-0000-0000-000000000000}"/>
          </ac:spMkLst>
        </pc:spChg>
        <pc:spChg chg="mod">
          <ac:chgData name="盈慈 陳" userId="47c6c481c66a08f8" providerId="LiveId" clId="{C8E897B1-1C11-4474-A106-AD9E28844469}" dt="2026-09-11T19:47:39.923" v="13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11T19:48:07.115" v="14" actId="14100"/>
        <pc:sldMkLst>
          <pc:docMk/>
          <pc:sldMk cId="0" sldId="259"/>
        </pc:sldMkLst>
        <pc:spChg chg="mod">
          <ac:chgData name="盈慈 陳" userId="47c6c481c66a08f8" providerId="LiveId" clId="{C8E897B1-1C11-4474-A106-AD9E28844469}" dt="2026-09-11T19:48:07.115" v="14" actId="14100"/>
          <ac:spMkLst>
            <pc:docMk/>
            <pc:sldMk cId="0" sldId="259"/>
            <ac:spMk id="2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11T19:48:22.679" v="16" actId="1076"/>
        <pc:sldMkLst>
          <pc:docMk/>
          <pc:sldMk cId="0" sldId="260"/>
        </pc:sldMkLst>
        <pc:spChg chg="mod">
          <ac:chgData name="盈慈 陳" userId="47c6c481c66a08f8" providerId="LiveId" clId="{C8E897B1-1C11-4474-A106-AD9E28844469}" dt="2026-09-11T19:48:20.390" v="15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盈慈 陳" userId="47c6c481c66a08f8" providerId="LiveId" clId="{C8E897B1-1C11-4474-A106-AD9E28844469}" dt="2026-09-11T19:48:22.679" v="16" actId="1076"/>
          <ac:spMkLst>
            <pc:docMk/>
            <pc:sldMk cId="0" sldId="260"/>
            <ac:spMk id="14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11T19:48:52.244" v="18" actId="14100"/>
        <pc:sldMkLst>
          <pc:docMk/>
          <pc:sldMk cId="0" sldId="262"/>
        </pc:sldMkLst>
        <pc:spChg chg="mod">
          <ac:chgData name="盈慈 陳" userId="47c6c481c66a08f8" providerId="LiveId" clId="{C8E897B1-1C11-4474-A106-AD9E28844469}" dt="2026-09-11T19:48:52.244" v="18" actId="14100"/>
          <ac:spMkLst>
            <pc:docMk/>
            <pc:sldMk cId="0" sldId="262"/>
            <ac:spMk id="2" creationId="{00000000-0000-0000-0000-000000000000}"/>
          </ac:spMkLst>
        </pc:spChg>
        <pc:spChg chg="mod">
          <ac:chgData name="盈慈 陳" userId="47c6c481c66a08f8" providerId="LiveId" clId="{C8E897B1-1C11-4474-A106-AD9E28844469}" dt="2026-09-11T19:48:41.890" v="17" actId="1076"/>
          <ac:spMkLst>
            <pc:docMk/>
            <pc:sldMk cId="0" sldId="262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814197" y="2098361"/>
            <a:ext cx="13416403" cy="26362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440"/>
              </a:lnSpc>
            </a:pPr>
            <a:r>
              <a:rPr lang="en-US" sz="7457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Chapter 10</a:t>
            </a:r>
          </a:p>
          <a:p>
            <a:pPr algn="ctr">
              <a:lnSpc>
                <a:spcPts val="10440"/>
              </a:lnSpc>
            </a:pPr>
            <a:r>
              <a:rPr lang="en-US" sz="7457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How to Work with Dictionaries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724400" y="5206655"/>
            <a:ext cx="8514556" cy="691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</a:pPr>
            <a:r>
              <a:rPr lang="en-US" sz="38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Murach’s Python Programming - Section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895350"/>
            <a:ext cx="7962900" cy="82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How to Create a Dictionary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2632075"/>
            <a:ext cx="6789966" cy="4927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endParaRPr lang="en-US" sz="3999" dirty="0">
              <a:solidFill>
                <a:srgbClr val="000B3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dictionary stores data in key-value pairs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Dictionaries use { }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Each key is associated with a value</a:t>
            </a:r>
          </a:p>
          <a:p>
            <a:pPr algn="just">
              <a:lnSpc>
                <a:spcPts val="5599"/>
              </a:lnSpc>
            </a:pPr>
            <a:endParaRPr lang="en-US" sz="3999" dirty="0">
              <a:solidFill>
                <a:srgbClr val="000B3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9820106" y="5143500"/>
            <a:ext cx="7439194" cy="4114800"/>
            <a:chOff x="0" y="0"/>
            <a:chExt cx="1959294" cy="108373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959294" cy="1083733"/>
            </a:xfrm>
            <a:custGeom>
              <a:avLst/>
              <a:gdLst/>
              <a:ahLst/>
              <a:cxnLst/>
              <a:rect l="l" t="t" r="r" b="b"/>
              <a:pathLst>
                <a:path w="1959294" h="1083733">
                  <a:moveTo>
                    <a:pt x="53075" y="0"/>
                  </a:moveTo>
                  <a:lnTo>
                    <a:pt x="1906219" y="0"/>
                  </a:lnTo>
                  <a:cubicBezTo>
                    <a:pt x="1920295" y="0"/>
                    <a:pt x="1933795" y="5592"/>
                    <a:pt x="1943749" y="15545"/>
                  </a:cubicBezTo>
                  <a:cubicBezTo>
                    <a:pt x="1953702" y="25499"/>
                    <a:pt x="1959294" y="38999"/>
                    <a:pt x="1959294" y="53075"/>
                  </a:cubicBezTo>
                  <a:lnTo>
                    <a:pt x="1959294" y="1030658"/>
                  </a:lnTo>
                  <a:cubicBezTo>
                    <a:pt x="1959294" y="1044734"/>
                    <a:pt x="1953702" y="1058234"/>
                    <a:pt x="1943749" y="1068188"/>
                  </a:cubicBezTo>
                  <a:cubicBezTo>
                    <a:pt x="1933795" y="1078142"/>
                    <a:pt x="1920295" y="1083733"/>
                    <a:pt x="1906219" y="1083733"/>
                  </a:cubicBezTo>
                  <a:lnTo>
                    <a:pt x="53075" y="1083733"/>
                  </a:lnTo>
                  <a:cubicBezTo>
                    <a:pt x="23763" y="1083733"/>
                    <a:pt x="0" y="1059971"/>
                    <a:pt x="0" y="1030658"/>
                  </a:cubicBezTo>
                  <a:lnTo>
                    <a:pt x="0" y="53075"/>
                  </a:lnTo>
                  <a:cubicBezTo>
                    <a:pt x="0" y="38999"/>
                    <a:pt x="5592" y="25499"/>
                    <a:pt x="15545" y="15545"/>
                  </a:cubicBezTo>
                  <a:cubicBezTo>
                    <a:pt x="25499" y="5592"/>
                    <a:pt x="38999" y="0"/>
                    <a:pt x="5307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1959294" cy="11408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820106" y="742663"/>
            <a:ext cx="7439194" cy="4114800"/>
            <a:chOff x="0" y="0"/>
            <a:chExt cx="1959294" cy="10837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59294" cy="1083733"/>
            </a:xfrm>
            <a:custGeom>
              <a:avLst/>
              <a:gdLst/>
              <a:ahLst/>
              <a:cxnLst/>
              <a:rect l="l" t="t" r="r" b="b"/>
              <a:pathLst>
                <a:path w="1959294" h="1083733">
                  <a:moveTo>
                    <a:pt x="53075" y="0"/>
                  </a:moveTo>
                  <a:lnTo>
                    <a:pt x="1906219" y="0"/>
                  </a:lnTo>
                  <a:cubicBezTo>
                    <a:pt x="1920295" y="0"/>
                    <a:pt x="1933795" y="5592"/>
                    <a:pt x="1943749" y="15545"/>
                  </a:cubicBezTo>
                  <a:cubicBezTo>
                    <a:pt x="1953702" y="25499"/>
                    <a:pt x="1959294" y="38999"/>
                    <a:pt x="1959294" y="53075"/>
                  </a:cubicBezTo>
                  <a:lnTo>
                    <a:pt x="1959294" y="1030658"/>
                  </a:lnTo>
                  <a:cubicBezTo>
                    <a:pt x="1959294" y="1044734"/>
                    <a:pt x="1953702" y="1058234"/>
                    <a:pt x="1943749" y="1068188"/>
                  </a:cubicBezTo>
                  <a:cubicBezTo>
                    <a:pt x="1933795" y="1078142"/>
                    <a:pt x="1920295" y="1083733"/>
                    <a:pt x="1906219" y="1083733"/>
                  </a:cubicBezTo>
                  <a:lnTo>
                    <a:pt x="53075" y="1083733"/>
                  </a:lnTo>
                  <a:cubicBezTo>
                    <a:pt x="23763" y="1083733"/>
                    <a:pt x="0" y="1059971"/>
                    <a:pt x="0" y="1030658"/>
                  </a:cubicBezTo>
                  <a:lnTo>
                    <a:pt x="0" y="53075"/>
                  </a:lnTo>
                  <a:cubicBezTo>
                    <a:pt x="0" y="38999"/>
                    <a:pt x="5592" y="25499"/>
                    <a:pt x="15545" y="15545"/>
                  </a:cubicBezTo>
                  <a:cubicBezTo>
                    <a:pt x="25499" y="5592"/>
                    <a:pt x="38999" y="0"/>
                    <a:pt x="5307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1959294" cy="11408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845218" y="1257331"/>
            <a:ext cx="5388970" cy="2999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countries = {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"US": "United States",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"CA": "Canada",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"MX": "Mexico"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182958" y="5977255"/>
            <a:ext cx="4713490" cy="2380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Key        Value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US    →    United States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CA    →    Canada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MX    →    Mexico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190042" y="2560320"/>
            <a:ext cx="6456363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Get, Set, and Add Items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023241" y="4304473"/>
            <a:ext cx="6789966" cy="210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Point:</a:t>
            </a:r>
          </a:p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Existing key → update the value</a:t>
            </a:r>
          </a:p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New key → add a new item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2113756"/>
            <a:ext cx="9694611" cy="1404938"/>
            <a:chOff x="0" y="0"/>
            <a:chExt cx="2553313" cy="37002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064487" y="2473642"/>
            <a:ext cx="523616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country = countries["US"]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028700" y="5007736"/>
            <a:ext cx="9694611" cy="1404938"/>
            <a:chOff x="0" y="0"/>
            <a:chExt cx="2553313" cy="37002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846807" y="5343446"/>
            <a:ext cx="805839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countries["US"] = "United States of America"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028700" y="7853362"/>
            <a:ext cx="9694611" cy="1404938"/>
            <a:chOff x="0" y="0"/>
            <a:chExt cx="2553313" cy="3700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846807" y="8213249"/>
            <a:ext cx="805839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countries["JP"] = "Japan"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7588" y="933450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Get an item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87588" y="4077057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Set an item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87588" y="6974649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 an item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97060" y="895350"/>
            <a:ext cx="4163097" cy="82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Delete Items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97061" y="2625248"/>
            <a:ext cx="4163098" cy="140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 removes a key-value pair.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7057986" y="2928937"/>
            <a:ext cx="9694611" cy="1404938"/>
            <a:chOff x="0" y="0"/>
            <a:chExt cx="2553313" cy="37002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8093773" y="3288823"/>
            <a:ext cx="523616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 countries["MX"]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7057986" y="5822917"/>
            <a:ext cx="4498392" cy="3145840"/>
            <a:chOff x="0" y="0"/>
            <a:chExt cx="1184762" cy="82853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84762" cy="828534"/>
            </a:xfrm>
            <a:custGeom>
              <a:avLst/>
              <a:gdLst/>
              <a:ahLst/>
              <a:cxnLst/>
              <a:rect l="l" t="t" r="r" b="b"/>
              <a:pathLst>
                <a:path w="1184762" h="828534">
                  <a:moveTo>
                    <a:pt x="87773" y="0"/>
                  </a:moveTo>
                  <a:lnTo>
                    <a:pt x="1096988" y="0"/>
                  </a:lnTo>
                  <a:cubicBezTo>
                    <a:pt x="1120267" y="0"/>
                    <a:pt x="1142593" y="9247"/>
                    <a:pt x="1159053" y="25708"/>
                  </a:cubicBezTo>
                  <a:cubicBezTo>
                    <a:pt x="1175514" y="42169"/>
                    <a:pt x="1184762" y="64494"/>
                    <a:pt x="1184762" y="87773"/>
                  </a:cubicBezTo>
                  <a:lnTo>
                    <a:pt x="1184762" y="740761"/>
                  </a:lnTo>
                  <a:cubicBezTo>
                    <a:pt x="1184762" y="764040"/>
                    <a:pt x="1175514" y="786365"/>
                    <a:pt x="1159053" y="802826"/>
                  </a:cubicBezTo>
                  <a:cubicBezTo>
                    <a:pt x="1142593" y="819286"/>
                    <a:pt x="1120267" y="828534"/>
                    <a:pt x="1096988" y="828534"/>
                  </a:cubicBezTo>
                  <a:lnTo>
                    <a:pt x="87773" y="828534"/>
                  </a:lnTo>
                  <a:cubicBezTo>
                    <a:pt x="64494" y="828534"/>
                    <a:pt x="42169" y="819286"/>
                    <a:pt x="25708" y="802826"/>
                  </a:cubicBezTo>
                  <a:cubicBezTo>
                    <a:pt x="9247" y="786365"/>
                    <a:pt x="0" y="764040"/>
                    <a:pt x="0" y="740761"/>
                  </a:cubicBezTo>
                  <a:lnTo>
                    <a:pt x="0" y="87773"/>
                  </a:lnTo>
                  <a:cubicBezTo>
                    <a:pt x="0" y="64494"/>
                    <a:pt x="9247" y="42169"/>
                    <a:pt x="25708" y="25708"/>
                  </a:cubicBezTo>
                  <a:cubicBezTo>
                    <a:pt x="42169" y="9247"/>
                    <a:pt x="64494" y="0"/>
                    <a:pt x="87773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184762" cy="8856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7467039" y="6428938"/>
            <a:ext cx="3680285" cy="1799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 → United States CA → Canada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MX → Mexico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316874" y="1748631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del：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16874" y="4892238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Before: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563173" y="4892238"/>
            <a:ext cx="3087334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After: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2254205" y="5822917"/>
            <a:ext cx="4498392" cy="3145840"/>
            <a:chOff x="0" y="0"/>
            <a:chExt cx="1184762" cy="82853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84762" cy="828534"/>
            </a:xfrm>
            <a:custGeom>
              <a:avLst/>
              <a:gdLst/>
              <a:ahLst/>
              <a:cxnLst/>
              <a:rect l="l" t="t" r="r" b="b"/>
              <a:pathLst>
                <a:path w="1184762" h="828534">
                  <a:moveTo>
                    <a:pt x="87773" y="0"/>
                  </a:moveTo>
                  <a:lnTo>
                    <a:pt x="1096988" y="0"/>
                  </a:lnTo>
                  <a:cubicBezTo>
                    <a:pt x="1120267" y="0"/>
                    <a:pt x="1142593" y="9247"/>
                    <a:pt x="1159053" y="25708"/>
                  </a:cubicBezTo>
                  <a:cubicBezTo>
                    <a:pt x="1175514" y="42169"/>
                    <a:pt x="1184762" y="64494"/>
                    <a:pt x="1184762" y="87773"/>
                  </a:cubicBezTo>
                  <a:lnTo>
                    <a:pt x="1184762" y="740761"/>
                  </a:lnTo>
                  <a:cubicBezTo>
                    <a:pt x="1184762" y="764040"/>
                    <a:pt x="1175514" y="786365"/>
                    <a:pt x="1159053" y="802826"/>
                  </a:cubicBezTo>
                  <a:cubicBezTo>
                    <a:pt x="1142593" y="819286"/>
                    <a:pt x="1120267" y="828534"/>
                    <a:pt x="1096988" y="828534"/>
                  </a:cubicBezTo>
                  <a:lnTo>
                    <a:pt x="87773" y="828534"/>
                  </a:lnTo>
                  <a:cubicBezTo>
                    <a:pt x="64494" y="828534"/>
                    <a:pt x="42169" y="819286"/>
                    <a:pt x="25708" y="802826"/>
                  </a:cubicBezTo>
                  <a:cubicBezTo>
                    <a:pt x="9247" y="786365"/>
                    <a:pt x="0" y="764040"/>
                    <a:pt x="0" y="740761"/>
                  </a:cubicBezTo>
                  <a:lnTo>
                    <a:pt x="0" y="87773"/>
                  </a:lnTo>
                  <a:cubicBezTo>
                    <a:pt x="0" y="64494"/>
                    <a:pt x="9247" y="42169"/>
                    <a:pt x="25708" y="25708"/>
                  </a:cubicBezTo>
                  <a:cubicBezTo>
                    <a:pt x="42169" y="9247"/>
                    <a:pt x="64494" y="0"/>
                    <a:pt x="87773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184762" cy="8856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642113" y="6600388"/>
            <a:ext cx="3722574" cy="119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 → United States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 → Canada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073654" y="794623"/>
            <a:ext cx="7739553" cy="177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Loop Through Keys and Values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873134" y="3146425"/>
            <a:ext cx="6789966" cy="140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.items() provides both the key and value.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2308569"/>
            <a:ext cx="8876504" cy="2480702"/>
            <a:chOff x="0" y="0"/>
            <a:chExt cx="2337845" cy="65335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37845" cy="653354"/>
            </a:xfrm>
            <a:custGeom>
              <a:avLst/>
              <a:gdLst/>
              <a:ahLst/>
              <a:cxnLst/>
              <a:rect l="l" t="t" r="r" b="b"/>
              <a:pathLst>
                <a:path w="2337845" h="653354">
                  <a:moveTo>
                    <a:pt x="44481" y="0"/>
                  </a:moveTo>
                  <a:lnTo>
                    <a:pt x="2293364" y="0"/>
                  </a:lnTo>
                  <a:cubicBezTo>
                    <a:pt x="2317930" y="0"/>
                    <a:pt x="2337845" y="19915"/>
                    <a:pt x="2337845" y="44481"/>
                  </a:cubicBezTo>
                  <a:lnTo>
                    <a:pt x="2337845" y="608872"/>
                  </a:lnTo>
                  <a:cubicBezTo>
                    <a:pt x="2337845" y="620670"/>
                    <a:pt x="2333158" y="631984"/>
                    <a:pt x="2324816" y="640325"/>
                  </a:cubicBezTo>
                  <a:cubicBezTo>
                    <a:pt x="2316475" y="648667"/>
                    <a:pt x="2305161" y="653354"/>
                    <a:pt x="2293364" y="653354"/>
                  </a:cubicBezTo>
                  <a:lnTo>
                    <a:pt x="44481" y="653354"/>
                  </a:lnTo>
                  <a:cubicBezTo>
                    <a:pt x="19915" y="653354"/>
                    <a:pt x="0" y="633439"/>
                    <a:pt x="0" y="608872"/>
                  </a:cubicBezTo>
                  <a:lnTo>
                    <a:pt x="0" y="44481"/>
                  </a:lnTo>
                  <a:cubicBezTo>
                    <a:pt x="0" y="19915"/>
                    <a:pt x="19915" y="0"/>
                    <a:pt x="44481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337845" cy="71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437753" y="2651125"/>
            <a:ext cx="5236169" cy="1244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code in countries:</a:t>
            </a:r>
          </a:p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print(code)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1142107" y="6168859"/>
            <a:ext cx="6252019" cy="3556467"/>
            <a:chOff x="0" y="0"/>
            <a:chExt cx="1646622" cy="93668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6622" cy="936683"/>
            </a:xfrm>
            <a:custGeom>
              <a:avLst/>
              <a:gdLst/>
              <a:ahLst/>
              <a:cxnLst/>
              <a:rect l="l" t="t" r="r" b="b"/>
              <a:pathLst>
                <a:path w="1646622" h="936683">
                  <a:moveTo>
                    <a:pt x="63154" y="0"/>
                  </a:moveTo>
                  <a:lnTo>
                    <a:pt x="1583469" y="0"/>
                  </a:lnTo>
                  <a:cubicBezTo>
                    <a:pt x="1600218" y="0"/>
                    <a:pt x="1616281" y="6654"/>
                    <a:pt x="1628125" y="18497"/>
                  </a:cubicBezTo>
                  <a:cubicBezTo>
                    <a:pt x="1639969" y="30341"/>
                    <a:pt x="1646622" y="46404"/>
                    <a:pt x="1646622" y="63154"/>
                  </a:cubicBezTo>
                  <a:lnTo>
                    <a:pt x="1646622" y="873529"/>
                  </a:lnTo>
                  <a:cubicBezTo>
                    <a:pt x="1646622" y="908408"/>
                    <a:pt x="1618348" y="936683"/>
                    <a:pt x="1583469" y="936683"/>
                  </a:cubicBezTo>
                  <a:lnTo>
                    <a:pt x="63154" y="936683"/>
                  </a:lnTo>
                  <a:cubicBezTo>
                    <a:pt x="28275" y="936683"/>
                    <a:pt x="0" y="908408"/>
                    <a:pt x="0" y="873529"/>
                  </a:cubicBezTo>
                  <a:lnTo>
                    <a:pt x="0" y="63154"/>
                  </a:lnTo>
                  <a:cubicBezTo>
                    <a:pt x="0" y="28275"/>
                    <a:pt x="28275" y="0"/>
                    <a:pt x="63154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646622" cy="9938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1915654" y="6814726"/>
            <a:ext cx="4055552" cy="1972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 United States </a:t>
            </a:r>
          </a:p>
          <a:p>
            <a:pPr algn="l">
              <a:lnSpc>
                <a:spcPts val="5179"/>
              </a:lnSpc>
            </a:pPr>
            <a:r>
              <a:rPr lang="en-US" sz="36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 Canada </a:t>
            </a:r>
          </a:p>
          <a:p>
            <a:pPr algn="l">
              <a:lnSpc>
                <a:spcPts val="5179"/>
              </a:lnSpc>
            </a:pPr>
            <a:r>
              <a:rPr lang="en-US" sz="36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JP Japan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87588" y="1353423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Loop through keys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33182" y="5253368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Loop through keys and values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873134" y="5154433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Output: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028700" y="6306969"/>
            <a:ext cx="8876504" cy="2480702"/>
            <a:chOff x="0" y="0"/>
            <a:chExt cx="2337845" cy="65335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337845" cy="653354"/>
            </a:xfrm>
            <a:custGeom>
              <a:avLst/>
              <a:gdLst/>
              <a:ahLst/>
              <a:cxnLst/>
              <a:rect l="l" t="t" r="r" b="b"/>
              <a:pathLst>
                <a:path w="2337845" h="653354">
                  <a:moveTo>
                    <a:pt x="44481" y="0"/>
                  </a:moveTo>
                  <a:lnTo>
                    <a:pt x="2293364" y="0"/>
                  </a:lnTo>
                  <a:cubicBezTo>
                    <a:pt x="2317930" y="0"/>
                    <a:pt x="2337845" y="19915"/>
                    <a:pt x="2337845" y="44481"/>
                  </a:cubicBezTo>
                  <a:lnTo>
                    <a:pt x="2337845" y="608872"/>
                  </a:lnTo>
                  <a:cubicBezTo>
                    <a:pt x="2337845" y="620670"/>
                    <a:pt x="2333158" y="631984"/>
                    <a:pt x="2324816" y="640325"/>
                  </a:cubicBezTo>
                  <a:cubicBezTo>
                    <a:pt x="2316475" y="648667"/>
                    <a:pt x="2305161" y="653354"/>
                    <a:pt x="2293364" y="653354"/>
                  </a:cubicBezTo>
                  <a:lnTo>
                    <a:pt x="44481" y="653354"/>
                  </a:lnTo>
                  <a:cubicBezTo>
                    <a:pt x="19915" y="653354"/>
                    <a:pt x="0" y="633439"/>
                    <a:pt x="0" y="608872"/>
                  </a:cubicBezTo>
                  <a:lnTo>
                    <a:pt x="0" y="44481"/>
                  </a:lnTo>
                  <a:cubicBezTo>
                    <a:pt x="0" y="19915"/>
                    <a:pt x="19915" y="0"/>
                    <a:pt x="44481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2337845" cy="71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37753" y="6904700"/>
            <a:ext cx="8058397" cy="1235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code, country in countries.items():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print(code, country)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548447" y="895350"/>
            <a:ext cx="7739553" cy="177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Convert Between Dictionaries and Lists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748757" y="3622595"/>
            <a:ext cx="5664165" cy="3517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We can use list() to convert dictionary keys or values to a list, and dict() to create a dictionary from key-value pairs.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2113756"/>
            <a:ext cx="9694611" cy="1404938"/>
            <a:chOff x="0" y="0"/>
            <a:chExt cx="2553313" cy="37002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064487" y="2473642"/>
            <a:ext cx="523616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codes = list(countries.keys())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028700" y="5007736"/>
            <a:ext cx="9694611" cy="1404938"/>
            <a:chOff x="0" y="0"/>
            <a:chExt cx="2553313" cy="37002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846807" y="5343446"/>
            <a:ext cx="805839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names = list(countries.values())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028700" y="7853362"/>
            <a:ext cx="9694611" cy="1404938"/>
            <a:chOff x="0" y="0"/>
            <a:chExt cx="2553313" cy="3700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846807" y="8213249"/>
            <a:ext cx="805839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country_dict = dict(country_list)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7588" y="933450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Keys → List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87588" y="4077057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Values → List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87588" y="6974649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List of pairs → Dictionary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73372" y="710701"/>
            <a:ext cx="8880227" cy="905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</a:pPr>
            <a:r>
              <a:rPr lang="en-US" sz="54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Country Code Program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73373" y="3180432"/>
            <a:ext cx="5664165" cy="563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Concepts Used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Dictionary keys and values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User input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 operator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Accessing a value by key</a:t>
            </a:r>
          </a:p>
          <a:p>
            <a:pPr algn="l">
              <a:lnSpc>
                <a:spcPts val="5599"/>
              </a:lnSpc>
            </a:pPr>
            <a:endParaRPr lang="en-US" sz="3999" dirty="0">
              <a:solidFill>
                <a:srgbClr val="000B3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8041099" y="1869927"/>
            <a:ext cx="9394397" cy="8253461"/>
            <a:chOff x="0" y="0"/>
            <a:chExt cx="2474245" cy="217375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74245" cy="2173751"/>
            </a:xfrm>
            <a:custGeom>
              <a:avLst/>
              <a:gdLst/>
              <a:ahLst/>
              <a:cxnLst/>
              <a:rect l="l" t="t" r="r" b="b"/>
              <a:pathLst>
                <a:path w="2474245" h="2173751">
                  <a:moveTo>
                    <a:pt x="42029" y="0"/>
                  </a:moveTo>
                  <a:lnTo>
                    <a:pt x="2432215" y="0"/>
                  </a:lnTo>
                  <a:cubicBezTo>
                    <a:pt x="2455427" y="0"/>
                    <a:pt x="2474245" y="18817"/>
                    <a:pt x="2474245" y="42029"/>
                  </a:cubicBezTo>
                  <a:lnTo>
                    <a:pt x="2474245" y="2131722"/>
                  </a:lnTo>
                  <a:cubicBezTo>
                    <a:pt x="2474245" y="2154934"/>
                    <a:pt x="2455427" y="2173751"/>
                    <a:pt x="2432215" y="2173751"/>
                  </a:cubicBezTo>
                  <a:lnTo>
                    <a:pt x="42029" y="2173751"/>
                  </a:lnTo>
                  <a:cubicBezTo>
                    <a:pt x="18817" y="2173751"/>
                    <a:pt x="0" y="2154934"/>
                    <a:pt x="0" y="2131722"/>
                  </a:cubicBezTo>
                  <a:lnTo>
                    <a:pt x="0" y="42029"/>
                  </a:lnTo>
                  <a:cubicBezTo>
                    <a:pt x="0" y="18817"/>
                    <a:pt x="18817" y="0"/>
                    <a:pt x="42029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474245" cy="2230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8556602" y="2053625"/>
            <a:ext cx="8363392" cy="7800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countries = {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"CA": "Canada",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"US": "United States",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"MX": "Mexico"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</a:p>
          <a:p>
            <a:pPr algn="l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code = input("Enter a country code: ")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code = code.upper()</a:t>
            </a:r>
          </a:p>
          <a:p>
            <a:pPr algn="l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 code in countries: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print("Country:", countries[code])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else: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print("There is no country with that code.")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8522" y="985676"/>
            <a:ext cx="8805999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Word Counter Program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946806" y="6307894"/>
            <a:ext cx="3312494" cy="140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= word</a:t>
            </a:r>
          </a:p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Value = count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2812841"/>
            <a:ext cx="7192832" cy="5492636"/>
            <a:chOff x="0" y="0"/>
            <a:chExt cx="1894408" cy="144662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94408" cy="1446620"/>
            </a:xfrm>
            <a:custGeom>
              <a:avLst/>
              <a:gdLst/>
              <a:ahLst/>
              <a:cxnLst/>
              <a:rect l="l" t="t" r="r" b="b"/>
              <a:pathLst>
                <a:path w="1894408" h="1446620">
                  <a:moveTo>
                    <a:pt x="54893" y="0"/>
                  </a:moveTo>
                  <a:lnTo>
                    <a:pt x="1839515" y="0"/>
                  </a:lnTo>
                  <a:cubicBezTo>
                    <a:pt x="1854074" y="0"/>
                    <a:pt x="1868036" y="5783"/>
                    <a:pt x="1878331" y="16078"/>
                  </a:cubicBezTo>
                  <a:cubicBezTo>
                    <a:pt x="1888625" y="26372"/>
                    <a:pt x="1894408" y="40335"/>
                    <a:pt x="1894408" y="54893"/>
                  </a:cubicBezTo>
                  <a:lnTo>
                    <a:pt x="1894408" y="1391727"/>
                  </a:lnTo>
                  <a:cubicBezTo>
                    <a:pt x="1894408" y="1422044"/>
                    <a:pt x="1869832" y="1446620"/>
                    <a:pt x="1839515" y="1446620"/>
                  </a:cubicBezTo>
                  <a:lnTo>
                    <a:pt x="54893" y="1446620"/>
                  </a:lnTo>
                  <a:cubicBezTo>
                    <a:pt x="24577" y="1446620"/>
                    <a:pt x="0" y="1422044"/>
                    <a:pt x="0" y="1391727"/>
                  </a:cubicBezTo>
                  <a:lnTo>
                    <a:pt x="0" y="54893"/>
                  </a:lnTo>
                  <a:cubicBezTo>
                    <a:pt x="0" y="24577"/>
                    <a:pt x="24577" y="0"/>
                    <a:pt x="54893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1894408" cy="15037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673277" y="3960299"/>
            <a:ext cx="5903677" cy="2999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word in words: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if word in word_count: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word_count[word] += 1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else: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word_count[word] = 1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810477" y="3166813"/>
            <a:ext cx="7267350" cy="1204795"/>
            <a:chOff x="0" y="0"/>
            <a:chExt cx="1914035" cy="31731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14035" cy="317312"/>
            </a:xfrm>
            <a:custGeom>
              <a:avLst/>
              <a:gdLst/>
              <a:ahLst/>
              <a:cxnLst/>
              <a:rect l="l" t="t" r="r" b="b"/>
              <a:pathLst>
                <a:path w="1914035" h="317312">
                  <a:moveTo>
                    <a:pt x="54330" y="0"/>
                  </a:moveTo>
                  <a:lnTo>
                    <a:pt x="1859704" y="0"/>
                  </a:lnTo>
                  <a:cubicBezTo>
                    <a:pt x="1889710" y="0"/>
                    <a:pt x="1914035" y="24325"/>
                    <a:pt x="1914035" y="54330"/>
                  </a:cubicBezTo>
                  <a:lnTo>
                    <a:pt x="1914035" y="262982"/>
                  </a:lnTo>
                  <a:cubicBezTo>
                    <a:pt x="1914035" y="277391"/>
                    <a:pt x="1908311" y="291210"/>
                    <a:pt x="1898122" y="301399"/>
                  </a:cubicBezTo>
                  <a:cubicBezTo>
                    <a:pt x="1887933" y="311588"/>
                    <a:pt x="1874114" y="317312"/>
                    <a:pt x="1859704" y="317312"/>
                  </a:cubicBezTo>
                  <a:lnTo>
                    <a:pt x="54330" y="317312"/>
                  </a:lnTo>
                  <a:cubicBezTo>
                    <a:pt x="39921" y="317312"/>
                    <a:pt x="26102" y="311588"/>
                    <a:pt x="15913" y="301399"/>
                  </a:cubicBezTo>
                  <a:cubicBezTo>
                    <a:pt x="5724" y="291210"/>
                    <a:pt x="0" y="277391"/>
                    <a:pt x="0" y="262982"/>
                  </a:cubicBezTo>
                  <a:lnTo>
                    <a:pt x="0" y="54330"/>
                  </a:lnTo>
                  <a:cubicBezTo>
                    <a:pt x="0" y="39921"/>
                    <a:pt x="5724" y="26102"/>
                    <a:pt x="15913" y="15913"/>
                  </a:cubicBezTo>
                  <a:cubicBezTo>
                    <a:pt x="26102" y="5724"/>
                    <a:pt x="39921" y="0"/>
                    <a:pt x="54330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914035" cy="374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810477" y="5847425"/>
            <a:ext cx="3365111" cy="3231236"/>
            <a:chOff x="0" y="0"/>
            <a:chExt cx="886284" cy="8510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86284" cy="851025"/>
            </a:xfrm>
            <a:custGeom>
              <a:avLst/>
              <a:gdLst/>
              <a:ahLst/>
              <a:cxnLst/>
              <a:rect l="l" t="t" r="r" b="b"/>
              <a:pathLst>
                <a:path w="886284" h="851025">
                  <a:moveTo>
                    <a:pt x="117333" y="0"/>
                  </a:moveTo>
                  <a:lnTo>
                    <a:pt x="768952" y="0"/>
                  </a:lnTo>
                  <a:cubicBezTo>
                    <a:pt x="833753" y="0"/>
                    <a:pt x="886284" y="52532"/>
                    <a:pt x="886284" y="117333"/>
                  </a:cubicBezTo>
                  <a:lnTo>
                    <a:pt x="886284" y="733692"/>
                  </a:lnTo>
                  <a:cubicBezTo>
                    <a:pt x="886284" y="798493"/>
                    <a:pt x="833753" y="851025"/>
                    <a:pt x="768952" y="851025"/>
                  </a:cubicBezTo>
                  <a:lnTo>
                    <a:pt x="117333" y="851025"/>
                  </a:lnTo>
                  <a:cubicBezTo>
                    <a:pt x="52532" y="851025"/>
                    <a:pt x="0" y="798493"/>
                    <a:pt x="0" y="733692"/>
                  </a:cubicBezTo>
                  <a:lnTo>
                    <a:pt x="0" y="117333"/>
                  </a:lnTo>
                  <a:cubicBezTo>
                    <a:pt x="0" y="52532"/>
                    <a:pt x="52532" y="0"/>
                    <a:pt x="117333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886284" cy="908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224623" y="6317419"/>
            <a:ext cx="2950966" cy="2399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python → 2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     → 2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fun    → 1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easy   → 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584521" y="2213828"/>
            <a:ext cx="2848073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Example: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810477" y="4710774"/>
            <a:ext cx="3098251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Dictionary：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02585" y="3372336"/>
            <a:ext cx="6628580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python is fun python is easy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8522" y="985676"/>
            <a:ext cx="8805999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More Skills with Dictionaries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250494" y="3216849"/>
            <a:ext cx="8893506" cy="1204795"/>
            <a:chOff x="0" y="0"/>
            <a:chExt cx="2342323" cy="31731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42323" cy="317312"/>
            </a:xfrm>
            <a:custGeom>
              <a:avLst/>
              <a:gdLst/>
              <a:ahLst/>
              <a:cxnLst/>
              <a:rect l="l" t="t" r="r" b="b"/>
              <a:pathLst>
                <a:path w="2342323" h="317312">
                  <a:moveTo>
                    <a:pt x="44396" y="0"/>
                  </a:moveTo>
                  <a:lnTo>
                    <a:pt x="2297927" y="0"/>
                  </a:lnTo>
                  <a:cubicBezTo>
                    <a:pt x="2309701" y="0"/>
                    <a:pt x="2320993" y="4677"/>
                    <a:pt x="2329319" y="13003"/>
                  </a:cubicBezTo>
                  <a:cubicBezTo>
                    <a:pt x="2337645" y="21329"/>
                    <a:pt x="2342323" y="32622"/>
                    <a:pt x="2342323" y="44396"/>
                  </a:cubicBezTo>
                  <a:lnTo>
                    <a:pt x="2342323" y="272916"/>
                  </a:lnTo>
                  <a:cubicBezTo>
                    <a:pt x="2342323" y="284691"/>
                    <a:pt x="2337645" y="295983"/>
                    <a:pt x="2329319" y="304309"/>
                  </a:cubicBezTo>
                  <a:cubicBezTo>
                    <a:pt x="2320993" y="312635"/>
                    <a:pt x="2309701" y="317312"/>
                    <a:pt x="2297927" y="317312"/>
                  </a:cubicBezTo>
                  <a:lnTo>
                    <a:pt x="44396" y="317312"/>
                  </a:lnTo>
                  <a:cubicBezTo>
                    <a:pt x="32622" y="317312"/>
                    <a:pt x="21329" y="312635"/>
                    <a:pt x="13003" y="304309"/>
                  </a:cubicBezTo>
                  <a:cubicBezTo>
                    <a:pt x="4677" y="295983"/>
                    <a:pt x="0" y="284691"/>
                    <a:pt x="0" y="272916"/>
                  </a:cubicBezTo>
                  <a:lnTo>
                    <a:pt x="0" y="44396"/>
                  </a:lnTo>
                  <a:cubicBezTo>
                    <a:pt x="0" y="32622"/>
                    <a:pt x="4677" y="21329"/>
                    <a:pt x="13003" y="13003"/>
                  </a:cubicBezTo>
                  <a:cubicBezTo>
                    <a:pt x="21329" y="4677"/>
                    <a:pt x="32622" y="0"/>
                    <a:pt x="44396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2342323" cy="374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42601" y="2150475"/>
            <a:ext cx="1622202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Merge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42601" y="3422371"/>
            <a:ext cx="8163713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all_countries = countries1 | countries2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42601" y="4445000"/>
            <a:ext cx="5374869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Creates a new dictionary.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811619" y="2400521"/>
            <a:ext cx="1622202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Update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419511" y="3213322"/>
            <a:ext cx="6967831" cy="1204795"/>
            <a:chOff x="0" y="0"/>
            <a:chExt cx="1835149" cy="31731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35149" cy="317312"/>
            </a:xfrm>
            <a:custGeom>
              <a:avLst/>
              <a:gdLst/>
              <a:ahLst/>
              <a:cxnLst/>
              <a:rect l="l" t="t" r="r" b="b"/>
              <a:pathLst>
                <a:path w="1835149" h="317312">
                  <a:moveTo>
                    <a:pt x="56666" y="0"/>
                  </a:moveTo>
                  <a:lnTo>
                    <a:pt x="1778483" y="0"/>
                  </a:lnTo>
                  <a:cubicBezTo>
                    <a:pt x="1793512" y="0"/>
                    <a:pt x="1807925" y="5970"/>
                    <a:pt x="1818552" y="16597"/>
                  </a:cubicBezTo>
                  <a:cubicBezTo>
                    <a:pt x="1829179" y="27224"/>
                    <a:pt x="1835149" y="41637"/>
                    <a:pt x="1835149" y="56666"/>
                  </a:cubicBezTo>
                  <a:lnTo>
                    <a:pt x="1835149" y="260647"/>
                  </a:lnTo>
                  <a:cubicBezTo>
                    <a:pt x="1835149" y="275675"/>
                    <a:pt x="1829179" y="290088"/>
                    <a:pt x="1818552" y="300715"/>
                  </a:cubicBezTo>
                  <a:cubicBezTo>
                    <a:pt x="1807925" y="311342"/>
                    <a:pt x="1793512" y="317312"/>
                    <a:pt x="1778483" y="317312"/>
                  </a:cubicBezTo>
                  <a:lnTo>
                    <a:pt x="56666" y="317312"/>
                  </a:lnTo>
                  <a:cubicBezTo>
                    <a:pt x="41637" y="317312"/>
                    <a:pt x="27224" y="311342"/>
                    <a:pt x="16597" y="300715"/>
                  </a:cubicBezTo>
                  <a:cubicBezTo>
                    <a:pt x="5970" y="290088"/>
                    <a:pt x="0" y="275675"/>
                    <a:pt x="0" y="260647"/>
                  </a:cubicBezTo>
                  <a:lnTo>
                    <a:pt x="0" y="56666"/>
                  </a:lnTo>
                  <a:cubicBezTo>
                    <a:pt x="0" y="41637"/>
                    <a:pt x="5970" y="27224"/>
                    <a:pt x="16597" y="16597"/>
                  </a:cubicBezTo>
                  <a:cubicBezTo>
                    <a:pt x="27224" y="5970"/>
                    <a:pt x="41637" y="0"/>
                    <a:pt x="56666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35149" cy="374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811619" y="3418844"/>
            <a:ext cx="6562575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countries1 |= countries2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615565" y="4444221"/>
            <a:ext cx="6575723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Updates an existing dictionary.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82703" y="5357423"/>
            <a:ext cx="3622017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Complex Values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3896993" y="6365875"/>
            <a:ext cx="11045036" cy="3178348"/>
            <a:chOff x="0" y="0"/>
            <a:chExt cx="2908981" cy="83709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908981" cy="837096"/>
            </a:xfrm>
            <a:custGeom>
              <a:avLst/>
              <a:gdLst/>
              <a:ahLst/>
              <a:cxnLst/>
              <a:rect l="l" t="t" r="r" b="b"/>
              <a:pathLst>
                <a:path w="2908981" h="837096">
                  <a:moveTo>
                    <a:pt x="35748" y="0"/>
                  </a:moveTo>
                  <a:lnTo>
                    <a:pt x="2873233" y="0"/>
                  </a:lnTo>
                  <a:cubicBezTo>
                    <a:pt x="2882714" y="0"/>
                    <a:pt x="2891806" y="3766"/>
                    <a:pt x="2898510" y="10470"/>
                  </a:cubicBezTo>
                  <a:cubicBezTo>
                    <a:pt x="2905214" y="17174"/>
                    <a:pt x="2908981" y="26267"/>
                    <a:pt x="2908981" y="35748"/>
                  </a:cubicBezTo>
                  <a:lnTo>
                    <a:pt x="2908981" y="801348"/>
                  </a:lnTo>
                  <a:cubicBezTo>
                    <a:pt x="2908981" y="821091"/>
                    <a:pt x="2892976" y="837096"/>
                    <a:pt x="2873233" y="837096"/>
                  </a:cubicBezTo>
                  <a:lnTo>
                    <a:pt x="35748" y="837096"/>
                  </a:lnTo>
                  <a:cubicBezTo>
                    <a:pt x="16005" y="837096"/>
                    <a:pt x="0" y="821091"/>
                    <a:pt x="0" y="801348"/>
                  </a:cubicBezTo>
                  <a:lnTo>
                    <a:pt x="0" y="35748"/>
                  </a:lnTo>
                  <a:cubicBezTo>
                    <a:pt x="0" y="16005"/>
                    <a:pt x="16005" y="0"/>
                    <a:pt x="3574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57150"/>
              <a:ext cx="2908981" cy="8942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4697247" y="6853324"/>
            <a:ext cx="9554516" cy="210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books = {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"PY": ["Python Programming", 39.99]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8522" y="985676"/>
            <a:ext cx="9844198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Book Catalog &amp; Chapter Summary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78649" y="2450557"/>
            <a:ext cx="3622017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Book Catalog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778522" y="3493250"/>
            <a:ext cx="7467493" cy="4204078"/>
            <a:chOff x="0" y="0"/>
            <a:chExt cx="1966747" cy="110724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966747" cy="1107247"/>
            </a:xfrm>
            <a:custGeom>
              <a:avLst/>
              <a:gdLst/>
              <a:ahLst/>
              <a:cxnLst/>
              <a:rect l="l" t="t" r="r" b="b"/>
              <a:pathLst>
                <a:path w="1966747" h="1107247">
                  <a:moveTo>
                    <a:pt x="52874" y="0"/>
                  </a:moveTo>
                  <a:lnTo>
                    <a:pt x="1913873" y="0"/>
                  </a:lnTo>
                  <a:cubicBezTo>
                    <a:pt x="1943074" y="0"/>
                    <a:pt x="1966747" y="23673"/>
                    <a:pt x="1966747" y="52874"/>
                  </a:cubicBezTo>
                  <a:lnTo>
                    <a:pt x="1966747" y="1054373"/>
                  </a:lnTo>
                  <a:cubicBezTo>
                    <a:pt x="1966747" y="1068396"/>
                    <a:pt x="1961176" y="1081844"/>
                    <a:pt x="1951261" y="1091760"/>
                  </a:cubicBezTo>
                  <a:cubicBezTo>
                    <a:pt x="1941345" y="1101676"/>
                    <a:pt x="1927896" y="1107247"/>
                    <a:pt x="1913873" y="1107247"/>
                  </a:cubicBezTo>
                  <a:lnTo>
                    <a:pt x="52874" y="1107247"/>
                  </a:lnTo>
                  <a:cubicBezTo>
                    <a:pt x="38851" y="1107247"/>
                    <a:pt x="25402" y="1101676"/>
                    <a:pt x="15487" y="1091760"/>
                  </a:cubicBezTo>
                  <a:cubicBezTo>
                    <a:pt x="5571" y="1081844"/>
                    <a:pt x="0" y="1068396"/>
                    <a:pt x="0" y="1054373"/>
                  </a:cubicBezTo>
                  <a:lnTo>
                    <a:pt x="0" y="52874"/>
                  </a:lnTo>
                  <a:cubicBezTo>
                    <a:pt x="0" y="38851"/>
                    <a:pt x="5571" y="25402"/>
                    <a:pt x="15487" y="15487"/>
                  </a:cubicBezTo>
                  <a:cubicBezTo>
                    <a:pt x="25402" y="5571"/>
                    <a:pt x="38851" y="0"/>
                    <a:pt x="52874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1966747" cy="11643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178649" y="4141139"/>
            <a:ext cx="6667239" cy="281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code, book in books.items():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title = book[0]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price = book[1]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print(code, title, price)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647026" y="2450557"/>
            <a:ext cx="2446181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Summary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993893" y="3398000"/>
            <a:ext cx="8115300" cy="633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 dictionaries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Get, set, add, and delete items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Loop through keys and values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Convert dictionaries and lists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Merge and update dictionaries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Store complex values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dictionaries in programs</a:t>
            </a:r>
          </a:p>
          <a:p>
            <a:pPr algn="l">
              <a:lnSpc>
                <a:spcPts val="5599"/>
              </a:lnSpc>
            </a:pPr>
            <a:endParaRPr lang="en-US" sz="3999">
              <a:solidFill>
                <a:srgbClr val="000B3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Practice Time - practice_ch12.py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572</Words>
  <Application>Microsoft Office PowerPoint</Application>
  <PresentationFormat>Custom</PresentationFormat>
  <Paragraphs>118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Noto Sans T Chinese</vt:lpstr>
      <vt:lpstr>Times New Roman Bold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chapter_12_How_to_Work_with_Dictionaries</dc:title>
  <cp:lastModifiedBy>盈慈 陳</cp:lastModifiedBy>
  <cp:revision>1</cp:revision>
  <dcterms:created xsi:type="dcterms:W3CDTF">2006-08-16T00:00:00Z</dcterms:created>
  <dcterms:modified xsi:type="dcterms:W3CDTF">2026-09-11T19:49:01Z</dcterms:modified>
  <dc:identifier>DAHU62P9MJs</dc:identifier>
</cp:coreProperties>
</file>