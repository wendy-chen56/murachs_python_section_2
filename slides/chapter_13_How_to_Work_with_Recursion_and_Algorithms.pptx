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Times New Roman Bold" panose="02020803070505020304" pitchFamily="18" charset="0"/>
      <p:regular r:id="rId11"/>
      <p:bold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76654" autoAdjust="0"/>
  </p:normalViewPr>
  <p:slideViewPr>
    <p:cSldViewPr>
      <p:cViewPr varScale="1">
        <p:scale>
          <a:sx n="36" d="100"/>
          <a:sy n="36" d="100"/>
        </p:scale>
        <p:origin x="52" y="4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盈慈 陳" userId="47c6c481c66a08f8" providerId="LiveId" clId="{C8E897B1-1C11-4474-A106-AD9E28844469}"/>
    <pc:docChg chg="modSld">
      <pc:chgData name="盈慈 陳" userId="47c6c481c66a08f8" providerId="LiveId" clId="{C8E897B1-1C11-4474-A106-AD9E28844469}" dt="2026-09-11T21:01:15.778" v="4" actId="1076"/>
      <pc:docMkLst>
        <pc:docMk/>
      </pc:docMkLst>
      <pc:sldChg chg="modSp mod">
        <pc:chgData name="盈慈 陳" userId="47c6c481c66a08f8" providerId="LiveId" clId="{C8E897B1-1C11-4474-A106-AD9E28844469}" dt="2026-09-11T20:58:55.989" v="0" actId="14100"/>
        <pc:sldMkLst>
          <pc:docMk/>
          <pc:sldMk cId="0" sldId="256"/>
        </pc:sldMkLst>
        <pc:spChg chg="mod">
          <ac:chgData name="盈慈 陳" userId="47c6c481c66a08f8" providerId="LiveId" clId="{C8E897B1-1C11-4474-A106-AD9E28844469}" dt="2026-09-11T20:58:55.989" v="0" actId="14100"/>
          <ac:spMkLst>
            <pc:docMk/>
            <pc:sldMk cId="0" sldId="256"/>
            <ac:spMk id="2" creationId="{00000000-0000-0000-0000-000000000000}"/>
          </ac:spMkLst>
        </pc:spChg>
      </pc:sldChg>
      <pc:sldChg chg="modSp mod">
        <pc:chgData name="盈慈 陳" userId="47c6c481c66a08f8" providerId="LiveId" clId="{C8E897B1-1C11-4474-A106-AD9E28844469}" dt="2026-09-11T21:00:39.911" v="1" actId="14100"/>
        <pc:sldMkLst>
          <pc:docMk/>
          <pc:sldMk cId="0" sldId="261"/>
        </pc:sldMkLst>
        <pc:spChg chg="mod">
          <ac:chgData name="盈慈 陳" userId="47c6c481c66a08f8" providerId="LiveId" clId="{C8E897B1-1C11-4474-A106-AD9E28844469}" dt="2026-09-11T21:00:39.911" v="1" actId="14100"/>
          <ac:spMkLst>
            <pc:docMk/>
            <pc:sldMk cId="0" sldId="261"/>
            <ac:spMk id="5" creationId="{00000000-0000-0000-0000-000000000000}"/>
          </ac:spMkLst>
        </pc:spChg>
      </pc:sldChg>
      <pc:sldChg chg="modSp mod">
        <pc:chgData name="盈慈 陳" userId="47c6c481c66a08f8" providerId="LiveId" clId="{C8E897B1-1C11-4474-A106-AD9E28844469}" dt="2026-09-11T21:00:53.200" v="2" actId="14100"/>
        <pc:sldMkLst>
          <pc:docMk/>
          <pc:sldMk cId="0" sldId="262"/>
        </pc:sldMkLst>
        <pc:spChg chg="mod">
          <ac:chgData name="盈慈 陳" userId="47c6c481c66a08f8" providerId="LiveId" clId="{C8E897B1-1C11-4474-A106-AD9E28844469}" dt="2026-09-11T21:00:53.200" v="2" actId="14100"/>
          <ac:spMkLst>
            <pc:docMk/>
            <pc:sldMk cId="0" sldId="262"/>
            <ac:spMk id="5" creationId="{00000000-0000-0000-0000-000000000000}"/>
          </ac:spMkLst>
        </pc:spChg>
      </pc:sldChg>
      <pc:sldChg chg="modSp mod">
        <pc:chgData name="盈慈 陳" userId="47c6c481c66a08f8" providerId="LiveId" clId="{C8E897B1-1C11-4474-A106-AD9E28844469}" dt="2026-09-11T21:01:15.778" v="4" actId="1076"/>
        <pc:sldMkLst>
          <pc:docMk/>
          <pc:sldMk cId="0" sldId="263"/>
        </pc:sldMkLst>
        <pc:spChg chg="mod">
          <ac:chgData name="盈慈 陳" userId="47c6c481c66a08f8" providerId="LiveId" clId="{C8E897B1-1C11-4474-A106-AD9E28844469}" dt="2026-09-11T21:01:09.315" v="3" actId="14100"/>
          <ac:spMkLst>
            <pc:docMk/>
            <pc:sldMk cId="0" sldId="263"/>
            <ac:spMk id="2" creationId="{00000000-0000-0000-0000-000000000000}"/>
          </ac:spMkLst>
        </pc:spChg>
        <pc:spChg chg="mod">
          <ac:chgData name="盈慈 陳" userId="47c6c481c66a08f8" providerId="LiveId" clId="{C8E897B1-1C11-4474-A106-AD9E28844469}" dt="2026-09-11T21:01:15.778" v="4" actId="1076"/>
          <ac:spMkLst>
            <pc:docMk/>
            <pc:sldMk cId="0" sldId="263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6AD34C-540F-4A47-BB2D-1A878CE4615A}" type="datetimeFigureOut">
              <a:rPr lang="zh-TW" altLang="en-US" smtClean="0"/>
              <a:t>2026/10/1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77714D-BCE4-4D7F-B649-2991E347F87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921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7714D-BCE4-4D7F-B649-2991E347F87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6774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7714D-BCE4-4D7F-B649-2991E347F873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971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7714D-BCE4-4D7F-B649-2991E347F87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12795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7714D-BCE4-4D7F-B649-2991E347F873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576340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7714D-BCE4-4D7F-B649-2991E347F873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36019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7714D-BCE4-4D7F-B649-2991E347F873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8900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7714D-BCE4-4D7F-B649-2991E347F873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65744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7714D-BCE4-4D7F-B649-2991E347F873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8629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B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24000" y="1638300"/>
            <a:ext cx="15621000" cy="37959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440"/>
              </a:lnSpc>
            </a:pPr>
            <a:r>
              <a:rPr lang="en-US" sz="7457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Chapter 13</a:t>
            </a:r>
          </a:p>
          <a:p>
            <a:pPr algn="ctr">
              <a:lnSpc>
                <a:spcPct val="100000"/>
              </a:lnSpc>
            </a:pPr>
            <a:r>
              <a:rPr lang="en-US" sz="7457" b="1" dirty="0">
                <a:solidFill>
                  <a:srgbClr val="FFFFFF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How to Work with </a:t>
            </a:r>
            <a:r>
              <a:rPr lang="zh-TW" altLang="zh-TW" sz="8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Recursion and Algorithms</a:t>
            </a:r>
            <a:endParaRPr lang="en-US" sz="7457" b="1" dirty="0">
              <a:solidFill>
                <a:schemeClr val="bg1"/>
              </a:solidFill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886722" y="5753100"/>
            <a:ext cx="8514556" cy="69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Murach’s Python Programming - Section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2657993"/>
            <a:ext cx="8514959" cy="4395606"/>
            <a:chOff x="0" y="0"/>
            <a:chExt cx="2242623" cy="11576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42623" cy="1157690"/>
            </a:xfrm>
            <a:custGeom>
              <a:avLst/>
              <a:gdLst/>
              <a:ahLst/>
              <a:cxnLst/>
              <a:rect l="l" t="t" r="r" b="b"/>
              <a:pathLst>
                <a:path w="2242623" h="1157690">
                  <a:moveTo>
                    <a:pt x="46370" y="0"/>
                  </a:moveTo>
                  <a:lnTo>
                    <a:pt x="2196253" y="0"/>
                  </a:lnTo>
                  <a:cubicBezTo>
                    <a:pt x="2208551" y="0"/>
                    <a:pt x="2220345" y="4885"/>
                    <a:pt x="2229042" y="13581"/>
                  </a:cubicBezTo>
                  <a:cubicBezTo>
                    <a:pt x="2237738" y="22277"/>
                    <a:pt x="2242623" y="34072"/>
                    <a:pt x="2242623" y="46370"/>
                  </a:cubicBezTo>
                  <a:lnTo>
                    <a:pt x="2242623" y="1111320"/>
                  </a:lnTo>
                  <a:cubicBezTo>
                    <a:pt x="2242623" y="1123619"/>
                    <a:pt x="2237738" y="1135413"/>
                    <a:pt x="2229042" y="1144109"/>
                  </a:cubicBezTo>
                  <a:cubicBezTo>
                    <a:pt x="2220345" y="1152805"/>
                    <a:pt x="2208551" y="1157690"/>
                    <a:pt x="2196253" y="1157690"/>
                  </a:cubicBezTo>
                  <a:lnTo>
                    <a:pt x="46370" y="1157690"/>
                  </a:lnTo>
                  <a:cubicBezTo>
                    <a:pt x="34072" y="1157690"/>
                    <a:pt x="22277" y="1152805"/>
                    <a:pt x="13581" y="1144109"/>
                  </a:cubicBezTo>
                  <a:cubicBezTo>
                    <a:pt x="4885" y="1135413"/>
                    <a:pt x="0" y="1123619"/>
                    <a:pt x="0" y="1111320"/>
                  </a:cubicBezTo>
                  <a:lnTo>
                    <a:pt x="0" y="46370"/>
                  </a:lnTo>
                  <a:cubicBezTo>
                    <a:pt x="0" y="34072"/>
                    <a:pt x="4885" y="22277"/>
                    <a:pt x="13581" y="13581"/>
                  </a:cubicBezTo>
                  <a:cubicBezTo>
                    <a:pt x="22277" y="4885"/>
                    <a:pt x="34072" y="0"/>
                    <a:pt x="46370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242623" cy="11862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89390" y="895350"/>
            <a:ext cx="8014792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 Introduction to Recursion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553218"/>
            <a:ext cx="7765659" cy="4675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Recursion occurs when a function calls itself.</a:t>
            </a:r>
          </a:p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 recursive function solves a problem by breaking it into smaller versions of the same problem.</a:t>
            </a:r>
          </a:p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 recursive function needs a condition that stops the recursion.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18650" y="3061792"/>
            <a:ext cx="7765659" cy="3342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 add_numbers(n):</a:t>
            </a:r>
          </a:p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if n == 1:</a:t>
            </a:r>
          </a:p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return 1</a:t>
            </a:r>
          </a:p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else:</a:t>
            </a:r>
          </a:p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return n + add_numbers(n - 1)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18650" y="7593610"/>
            <a:ext cx="7765659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Recursion = a function calls itself.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2657993"/>
            <a:ext cx="8514959" cy="5621477"/>
            <a:chOff x="0" y="0"/>
            <a:chExt cx="2242623" cy="148055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42623" cy="1480554"/>
            </a:xfrm>
            <a:custGeom>
              <a:avLst/>
              <a:gdLst/>
              <a:ahLst/>
              <a:cxnLst/>
              <a:rect l="l" t="t" r="r" b="b"/>
              <a:pathLst>
                <a:path w="2242623" h="1480554">
                  <a:moveTo>
                    <a:pt x="46370" y="0"/>
                  </a:moveTo>
                  <a:lnTo>
                    <a:pt x="2196253" y="0"/>
                  </a:lnTo>
                  <a:cubicBezTo>
                    <a:pt x="2208551" y="0"/>
                    <a:pt x="2220345" y="4885"/>
                    <a:pt x="2229042" y="13581"/>
                  </a:cubicBezTo>
                  <a:cubicBezTo>
                    <a:pt x="2237738" y="22277"/>
                    <a:pt x="2242623" y="34072"/>
                    <a:pt x="2242623" y="46370"/>
                  </a:cubicBezTo>
                  <a:lnTo>
                    <a:pt x="2242623" y="1434184"/>
                  </a:lnTo>
                  <a:cubicBezTo>
                    <a:pt x="2242623" y="1446482"/>
                    <a:pt x="2237738" y="1458276"/>
                    <a:pt x="2229042" y="1466972"/>
                  </a:cubicBezTo>
                  <a:cubicBezTo>
                    <a:pt x="2220345" y="1475668"/>
                    <a:pt x="2208551" y="1480554"/>
                    <a:pt x="2196253" y="1480554"/>
                  </a:cubicBezTo>
                  <a:lnTo>
                    <a:pt x="46370" y="1480554"/>
                  </a:lnTo>
                  <a:cubicBezTo>
                    <a:pt x="20761" y="1480554"/>
                    <a:pt x="0" y="1459793"/>
                    <a:pt x="0" y="1434184"/>
                  </a:cubicBezTo>
                  <a:lnTo>
                    <a:pt x="0" y="46370"/>
                  </a:lnTo>
                  <a:cubicBezTo>
                    <a:pt x="0" y="34072"/>
                    <a:pt x="4885" y="22277"/>
                    <a:pt x="13581" y="13581"/>
                  </a:cubicBezTo>
                  <a:cubicBezTo>
                    <a:pt x="22277" y="4885"/>
                    <a:pt x="34072" y="0"/>
                    <a:pt x="46370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242623" cy="15091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053834" y="895350"/>
            <a:ext cx="6285905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How Recursion Works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74079" y="2728417"/>
            <a:ext cx="7765659" cy="4008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 important parts:</a:t>
            </a:r>
          </a:p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Base Case</a:t>
            </a:r>
          </a:p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Stops the recursion.</a:t>
            </a:r>
          </a:p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Recursive Case</a:t>
            </a:r>
          </a:p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Calls the function again with a smaller problem.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43668" y="3286952"/>
            <a:ext cx="7765659" cy="4008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add_numbers(5)</a:t>
            </a:r>
          </a:p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 + add_numbers(4)</a:t>
            </a:r>
          </a:p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 + 4 + add_numbers(3)</a:t>
            </a:r>
          </a:p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 + 4 + 3 + add_numbers(2)</a:t>
            </a:r>
          </a:p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5 + 4 + 3 + 2 + add_numbers(1)</a:t>
            </a:r>
          </a:p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2657993"/>
            <a:ext cx="8514959" cy="4320552"/>
            <a:chOff x="0" y="0"/>
            <a:chExt cx="2242623" cy="11379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42623" cy="1137923"/>
            </a:xfrm>
            <a:custGeom>
              <a:avLst/>
              <a:gdLst/>
              <a:ahLst/>
              <a:cxnLst/>
              <a:rect l="l" t="t" r="r" b="b"/>
              <a:pathLst>
                <a:path w="2242623" h="1137923">
                  <a:moveTo>
                    <a:pt x="46370" y="0"/>
                  </a:moveTo>
                  <a:lnTo>
                    <a:pt x="2196253" y="0"/>
                  </a:lnTo>
                  <a:cubicBezTo>
                    <a:pt x="2208551" y="0"/>
                    <a:pt x="2220345" y="4885"/>
                    <a:pt x="2229042" y="13581"/>
                  </a:cubicBezTo>
                  <a:cubicBezTo>
                    <a:pt x="2237738" y="22277"/>
                    <a:pt x="2242623" y="34072"/>
                    <a:pt x="2242623" y="46370"/>
                  </a:cubicBezTo>
                  <a:lnTo>
                    <a:pt x="2242623" y="1091553"/>
                  </a:lnTo>
                  <a:cubicBezTo>
                    <a:pt x="2242623" y="1103851"/>
                    <a:pt x="2237738" y="1115646"/>
                    <a:pt x="2229042" y="1124342"/>
                  </a:cubicBezTo>
                  <a:cubicBezTo>
                    <a:pt x="2220345" y="1133038"/>
                    <a:pt x="2208551" y="1137923"/>
                    <a:pt x="2196253" y="1137923"/>
                  </a:cubicBezTo>
                  <a:lnTo>
                    <a:pt x="46370" y="1137923"/>
                  </a:lnTo>
                  <a:cubicBezTo>
                    <a:pt x="34072" y="1137923"/>
                    <a:pt x="22277" y="1133038"/>
                    <a:pt x="13581" y="1124342"/>
                  </a:cubicBezTo>
                  <a:cubicBezTo>
                    <a:pt x="4885" y="1115646"/>
                    <a:pt x="0" y="1103851"/>
                    <a:pt x="0" y="1091553"/>
                  </a:cubicBezTo>
                  <a:lnTo>
                    <a:pt x="0" y="46370"/>
                  </a:lnTo>
                  <a:cubicBezTo>
                    <a:pt x="0" y="34072"/>
                    <a:pt x="4885" y="22277"/>
                    <a:pt x="13581" y="13581"/>
                  </a:cubicBezTo>
                  <a:cubicBezTo>
                    <a:pt x="22277" y="4885"/>
                    <a:pt x="34072" y="0"/>
                    <a:pt x="46370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242623" cy="11664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110140" y="895350"/>
            <a:ext cx="6173292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Computing a Factorial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4150" y="3296477"/>
            <a:ext cx="7765659" cy="3517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factorial multiplies a number by all positive integers below it.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000B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5! = 5 × 4 × 3 × 2 × 1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5! = 120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18650" y="3286952"/>
            <a:ext cx="7765659" cy="3342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 factorial(n):</a:t>
            </a:r>
          </a:p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if n == 0:</a:t>
            </a:r>
          </a:p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return 1</a:t>
            </a:r>
          </a:p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else:</a:t>
            </a:r>
          </a:p>
          <a:p>
            <a:pPr algn="l">
              <a:lnSpc>
                <a:spcPts val="5319"/>
              </a:lnSpc>
            </a:pPr>
            <a:r>
              <a:rPr lang="en-US" sz="3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return n * factorial(n - 1)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32597" y="7326633"/>
            <a:ext cx="7765659" cy="140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 case: n == 0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Recursive call: factorial(n - 1)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42316" y="2207672"/>
            <a:ext cx="8916643" cy="5546424"/>
            <a:chOff x="0" y="0"/>
            <a:chExt cx="2348416" cy="14607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48416" cy="1460787"/>
            </a:xfrm>
            <a:custGeom>
              <a:avLst/>
              <a:gdLst/>
              <a:ahLst/>
              <a:cxnLst/>
              <a:rect l="l" t="t" r="r" b="b"/>
              <a:pathLst>
                <a:path w="2348416" h="1460787">
                  <a:moveTo>
                    <a:pt x="44281" y="0"/>
                  </a:moveTo>
                  <a:lnTo>
                    <a:pt x="2304135" y="0"/>
                  </a:lnTo>
                  <a:cubicBezTo>
                    <a:pt x="2328591" y="0"/>
                    <a:pt x="2348416" y="19825"/>
                    <a:pt x="2348416" y="44281"/>
                  </a:cubicBezTo>
                  <a:lnTo>
                    <a:pt x="2348416" y="1416505"/>
                  </a:lnTo>
                  <a:cubicBezTo>
                    <a:pt x="2348416" y="1440961"/>
                    <a:pt x="2328591" y="1460787"/>
                    <a:pt x="2304135" y="1460787"/>
                  </a:cubicBezTo>
                  <a:lnTo>
                    <a:pt x="44281" y="1460787"/>
                  </a:lnTo>
                  <a:cubicBezTo>
                    <a:pt x="19825" y="1460787"/>
                    <a:pt x="0" y="1440961"/>
                    <a:pt x="0" y="1416505"/>
                  </a:cubicBezTo>
                  <a:lnTo>
                    <a:pt x="0" y="44281"/>
                  </a:lnTo>
                  <a:cubicBezTo>
                    <a:pt x="0" y="19825"/>
                    <a:pt x="19825" y="0"/>
                    <a:pt x="44281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348416" cy="1489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30950" y="895350"/>
            <a:ext cx="8131671" cy="892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Computing a Fibonacci Series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4150" y="3296477"/>
            <a:ext cx="7765659" cy="3517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Fibonacci series begins: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0, 1, 1, 2, 3, 5, 8, 13, 21, 34</a:t>
            </a:r>
          </a:p>
          <a:p>
            <a:pPr algn="l">
              <a:lnSpc>
                <a:spcPts val="5599"/>
              </a:lnSpc>
            </a:pPr>
            <a:endParaRPr lang="en-US" sz="3999">
              <a:solidFill>
                <a:srgbClr val="000B3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new number is the sum of the previous two numbers.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855283" y="2772672"/>
            <a:ext cx="8690709" cy="4330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 fibonacci(n):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if n == 0: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return 0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elif n == 1: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return 1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else: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return fibonacci(n - 1) + fibonacci(n - 2)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4150" y="8077946"/>
            <a:ext cx="13094447" cy="140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 cases: 0 and 1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Recursive case: add the previous two Fibonacci numbers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742316" y="2557921"/>
            <a:ext cx="8916643" cy="4766964"/>
            <a:chOff x="0" y="0"/>
            <a:chExt cx="2348416" cy="12554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48416" cy="1255497"/>
            </a:xfrm>
            <a:custGeom>
              <a:avLst/>
              <a:gdLst/>
              <a:ahLst/>
              <a:cxnLst/>
              <a:rect l="l" t="t" r="r" b="b"/>
              <a:pathLst>
                <a:path w="2348416" h="1255497">
                  <a:moveTo>
                    <a:pt x="44281" y="0"/>
                  </a:moveTo>
                  <a:lnTo>
                    <a:pt x="2304135" y="0"/>
                  </a:lnTo>
                  <a:cubicBezTo>
                    <a:pt x="2328591" y="0"/>
                    <a:pt x="2348416" y="19825"/>
                    <a:pt x="2348416" y="44281"/>
                  </a:cubicBezTo>
                  <a:lnTo>
                    <a:pt x="2348416" y="1211216"/>
                  </a:lnTo>
                  <a:cubicBezTo>
                    <a:pt x="2348416" y="1235671"/>
                    <a:pt x="2328591" y="1255497"/>
                    <a:pt x="2304135" y="1255497"/>
                  </a:cubicBezTo>
                  <a:lnTo>
                    <a:pt x="44281" y="1255497"/>
                  </a:lnTo>
                  <a:cubicBezTo>
                    <a:pt x="19825" y="1255497"/>
                    <a:pt x="0" y="1235671"/>
                    <a:pt x="0" y="1211216"/>
                  </a:cubicBezTo>
                  <a:lnTo>
                    <a:pt x="0" y="44281"/>
                  </a:lnTo>
                  <a:cubicBezTo>
                    <a:pt x="0" y="19825"/>
                    <a:pt x="19825" y="0"/>
                    <a:pt x="44281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2348416" cy="1284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895350"/>
            <a:ext cx="8420100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Towers of Hanoi Puzzle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99026" y="2175772"/>
            <a:ext cx="7765659" cy="4927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puzzle uses three towers: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= Source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 = Auxiliary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= Destination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Goal: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Move all disks from the source tower to the destination tower.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31119" y="3098109"/>
            <a:ext cx="5938753" cy="309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         B          C</a:t>
            </a:r>
          </a:p>
          <a:p>
            <a:pPr algn="l">
              <a:lnSpc>
                <a:spcPts val="4899"/>
              </a:lnSpc>
            </a:pPr>
            <a:endParaRPr lang="en-US" sz="3499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9026" y="8051960"/>
            <a:ext cx="13094447" cy="140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Move one disk at a time.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 larger disk cannot be placed on a smaller disk.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9026" y="7229635"/>
            <a:ext cx="1286053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68120" y="5143500"/>
            <a:ext cx="11501118" cy="4749732"/>
            <a:chOff x="0" y="0"/>
            <a:chExt cx="3029101" cy="12509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29101" cy="1250958"/>
            </a:xfrm>
            <a:custGeom>
              <a:avLst/>
              <a:gdLst/>
              <a:ahLst/>
              <a:cxnLst/>
              <a:rect l="l" t="t" r="r" b="b"/>
              <a:pathLst>
                <a:path w="3029101" h="1250958">
                  <a:moveTo>
                    <a:pt x="34330" y="0"/>
                  </a:moveTo>
                  <a:lnTo>
                    <a:pt x="2994770" y="0"/>
                  </a:lnTo>
                  <a:cubicBezTo>
                    <a:pt x="3003876" y="0"/>
                    <a:pt x="3012608" y="3617"/>
                    <a:pt x="3019046" y="10055"/>
                  </a:cubicBezTo>
                  <a:cubicBezTo>
                    <a:pt x="3025484" y="16493"/>
                    <a:pt x="3029101" y="25225"/>
                    <a:pt x="3029101" y="34330"/>
                  </a:cubicBezTo>
                  <a:lnTo>
                    <a:pt x="3029101" y="1216628"/>
                  </a:lnTo>
                  <a:cubicBezTo>
                    <a:pt x="3029101" y="1235588"/>
                    <a:pt x="3013731" y="1250958"/>
                    <a:pt x="2994770" y="1250958"/>
                  </a:cubicBezTo>
                  <a:lnTo>
                    <a:pt x="34330" y="1250958"/>
                  </a:lnTo>
                  <a:cubicBezTo>
                    <a:pt x="15370" y="1250958"/>
                    <a:pt x="0" y="1235588"/>
                    <a:pt x="0" y="1216628"/>
                  </a:cubicBezTo>
                  <a:lnTo>
                    <a:pt x="0" y="34330"/>
                  </a:lnTo>
                  <a:cubicBezTo>
                    <a:pt x="0" y="25225"/>
                    <a:pt x="3617" y="16493"/>
                    <a:pt x="10055" y="10055"/>
                  </a:cubicBezTo>
                  <a:cubicBezTo>
                    <a:pt x="16493" y="3617"/>
                    <a:pt x="25225" y="0"/>
                    <a:pt x="34330" y="0"/>
                  </a:cubicBezTo>
                  <a:close/>
                </a:path>
              </a:pathLst>
            </a:custGeom>
            <a:solidFill>
              <a:srgbClr val="000B3D"/>
            </a:solidFill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3029101" cy="1279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008188" y="895350"/>
            <a:ext cx="7135812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Recursive Algorithm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74790" y="1878007"/>
            <a:ext cx="13469714" cy="281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move n disks: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Move n - 1 disks from Source to Auxiliary.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Move disk n from Source to Destination.</a:t>
            </a:r>
          </a:p>
          <a:p>
            <a:pPr algn="l">
              <a:lnSpc>
                <a:spcPts val="5599"/>
              </a:lnSpc>
            </a:pPr>
            <a:r>
              <a:rPr lang="en-US" sz="3999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Move n - 1 disks from Auxiliary to Destination.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38908" y="5241154"/>
            <a:ext cx="11505597" cy="4330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 move_disks(n, source, destination, auxiliary):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if n == 1: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print("Move disk 1 from", source, "to", destination)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else: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move_disks(n - 1, source, auxiliary, destination)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print("Move disk", n, "from", source, "to", destination)</a:t>
            </a:r>
          </a:p>
          <a:p>
            <a:pPr algn="l">
              <a:lnSpc>
                <a:spcPts val="4899"/>
              </a:lnSpc>
            </a:pPr>
            <a:r>
              <a:rPr lang="en-US" sz="34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move_disks(n - 1, auxiliary, destination, source)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4536" y="895350"/>
            <a:ext cx="9161463" cy="823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>
                <a:solidFill>
                  <a:srgbClr val="000B3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Practice &amp; Chapter Summary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476500"/>
            <a:ext cx="4613418" cy="3517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Practice:</a:t>
            </a:r>
          </a:p>
          <a:p>
            <a:pPr algn="l">
              <a:lnSpc>
                <a:spcPts val="5599"/>
              </a:lnSpc>
            </a:pPr>
            <a:r>
              <a:rPr lang="en-US" sz="3999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the recursive calls in:</a:t>
            </a:r>
          </a:p>
          <a:p>
            <a:pPr algn="l">
              <a:lnSpc>
                <a:spcPts val="5599"/>
              </a:lnSpc>
            </a:pPr>
            <a:r>
              <a:rPr lang="en-US" sz="3999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en-US" sz="3999" dirty="0" err="1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add_numbers</a:t>
            </a:r>
            <a:r>
              <a:rPr lang="en-US" sz="3999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</a:t>
            </a:r>
          </a:p>
          <a:p>
            <a:pPr algn="l">
              <a:lnSpc>
                <a:spcPts val="5599"/>
              </a:lnSpc>
            </a:pPr>
            <a:r>
              <a:rPr lang="en-US" sz="3999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factorial()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753703" y="2336804"/>
            <a:ext cx="11505597" cy="6009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</a:p>
          <a:p>
            <a:pPr algn="l">
              <a:lnSpc>
                <a:spcPts val="5320"/>
              </a:lnSpc>
            </a:pPr>
            <a:r>
              <a:rPr lang="en-US" sz="3800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Recursion allows a function to call itself.</a:t>
            </a:r>
          </a:p>
          <a:p>
            <a:pPr algn="l">
              <a:lnSpc>
                <a:spcPts val="5320"/>
              </a:lnSpc>
            </a:pPr>
            <a:r>
              <a:rPr lang="en-US" sz="3800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 base case stops the recursion.</a:t>
            </a:r>
          </a:p>
          <a:p>
            <a:pPr algn="l">
              <a:lnSpc>
                <a:spcPts val="5320"/>
              </a:lnSpc>
            </a:pPr>
            <a:r>
              <a:rPr lang="en-US" sz="3800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 recursive case solves a smaller version of the problem.</a:t>
            </a:r>
          </a:p>
          <a:p>
            <a:pPr algn="l">
              <a:lnSpc>
                <a:spcPts val="5320"/>
              </a:lnSpc>
            </a:pPr>
            <a:r>
              <a:rPr lang="en-US" sz="3800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Recursion can be used for:</a:t>
            </a:r>
          </a:p>
          <a:p>
            <a:pPr algn="l">
              <a:lnSpc>
                <a:spcPts val="5320"/>
              </a:lnSpc>
            </a:pPr>
            <a:r>
              <a:rPr lang="en-US" sz="3800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- Adding a range of numbers</a:t>
            </a:r>
          </a:p>
          <a:p>
            <a:pPr algn="l">
              <a:lnSpc>
                <a:spcPts val="5320"/>
              </a:lnSpc>
            </a:pPr>
            <a:r>
              <a:rPr lang="en-US" sz="3800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- Factorials</a:t>
            </a:r>
          </a:p>
          <a:p>
            <a:pPr algn="l">
              <a:lnSpc>
                <a:spcPts val="5320"/>
              </a:lnSpc>
            </a:pPr>
            <a:r>
              <a:rPr lang="en-US" sz="3800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- Fibonacci series</a:t>
            </a:r>
          </a:p>
          <a:p>
            <a:pPr algn="l">
              <a:lnSpc>
                <a:spcPts val="5320"/>
              </a:lnSpc>
            </a:pPr>
            <a:r>
              <a:rPr lang="en-US" sz="3800" dirty="0">
                <a:solidFill>
                  <a:srgbClr val="000B3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- Towers of Hanoi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629</Words>
  <Application>Microsoft Office PowerPoint</Application>
  <PresentationFormat>Custom</PresentationFormat>
  <Paragraphs>100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Times New Roman</vt:lpstr>
      <vt:lpstr>Calibri</vt:lpstr>
      <vt:lpstr>Times New Roman Bold</vt:lpstr>
      <vt:lpstr>Arial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chapter_13_How_to_Work_with_Recursion_and_Algorithms</dc:title>
  <cp:lastModifiedBy>盈慈 陳</cp:lastModifiedBy>
  <cp:revision>3</cp:revision>
  <dcterms:created xsi:type="dcterms:W3CDTF">2006-08-16T00:00:00Z</dcterms:created>
  <dcterms:modified xsi:type="dcterms:W3CDTF">2026-10-01T18:34:51Z</dcterms:modified>
  <dc:identifier>DAHU7BRX5D4</dc:identifier>
</cp:coreProperties>
</file>